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01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691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05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1024128" y="35204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CHAPTER 05 · PROPOSAL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3877056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20C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组织SOP提议：地板之上我们定什么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1024128" y="5074920"/>
            <a:ext cx="9692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状态：提议，待讨论。企微强制的必要流程是地板；本篇是地板之上我们自己设计的管理动作——是否采纳，由管理层拍板。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24128" y="6720840"/>
            <a:ext cx="105841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6720840"/>
            <a:ext cx="105841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总原则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857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6" name="Text 14"/>
          <p:cNvSpPr/>
          <p:nvPr/>
        </p:nvSpPr>
        <p:spPr>
          <a:xfrm>
            <a:off x="233857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数据分级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84733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8" name="Text 16"/>
          <p:cNvSpPr/>
          <p:nvPr/>
        </p:nvSpPr>
        <p:spPr>
          <a:xfrm>
            <a:off x="384733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七步流程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56098" y="6720840"/>
            <a:ext cx="144703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0" name="Text 18"/>
          <p:cNvSpPr/>
          <p:nvPr/>
        </p:nvSpPr>
        <p:spPr>
          <a:xfrm>
            <a:off x="5356098" y="6720840"/>
            <a:ext cx="144703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审批防瓶颈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5916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2" name="Text 20"/>
          <p:cNvSpPr/>
          <p:nvPr/>
        </p:nvSpPr>
        <p:spPr>
          <a:xfrm>
            <a:off x="705916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职责分工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567928" y="6720840"/>
            <a:ext cx="1991106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4" name="Text 22"/>
          <p:cNvSpPr/>
          <p:nvPr/>
        </p:nvSpPr>
        <p:spPr>
          <a:xfrm>
            <a:off x="8567928" y="6720840"/>
            <a:ext cx="1991106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业务侧bot管理员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02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5.1 · 总原则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三条总原则：谁用谁申请，审批只走一次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108960"/>
            <a:ext cx="5166360" cy="3566160"/>
          </a:xfrm>
          <a:prstGeom prst="roundRect">
            <a:avLst>
              <a:gd name="adj" fmla="val 3077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44168" y="33375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①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344168" y="443484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谁要用谁申请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谁申请谁搭建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44168" y="548640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提需求的人就是搭机器人的人（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业务自助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，DDD 客服已跑通）。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556248" y="3108960"/>
            <a:ext cx="5166360" cy="3566160"/>
          </a:xfrm>
          <a:prstGeom prst="roundRect">
            <a:avLst>
              <a:gd name="adj" fmla="val 3077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76288" y="33375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②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876288" y="443484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审批只走一次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76288" y="548640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上线前审一次，日常使用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不逐次审批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（配合“第一次制”）。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2088368" y="3108960"/>
            <a:ext cx="5166360" cy="3566160"/>
          </a:xfrm>
          <a:prstGeom prst="roundRect">
            <a:avLst>
              <a:gd name="adj" fmla="val 3077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408408" y="33375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③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12408408" y="443484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管理不拦路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408408" y="548640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高频场景模板化免审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、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审批限时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，管理动作服务业务不卡业务。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1024128" y="722376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FBF7F2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98448" y="722376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本篇是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提议，待讨论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——地板（企微强制流程）见第 2 章；采纳与否由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管理层拍板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03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5.2 · 数据分级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什么数据机器人可以碰：四级分级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3858768" y="3063240"/>
            <a:ext cx="5120640" cy="1115568"/>
          </a:xfrm>
          <a:prstGeom prst="roundRect">
            <a:avLst>
              <a:gd name="adj" fmla="val 7377"/>
            </a:avLst>
          </a:prstGeom>
          <a:solidFill>
            <a:srgbClr val="9A341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58768" y="306324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绝 密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1859768" y="3063240"/>
            <a:ext cx="4937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人事薪酬 · 涉密与两用物项
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一律禁止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· 例外需高层批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005328" y="4306824"/>
            <a:ext cx="6827520" cy="1115568"/>
          </a:xfrm>
          <a:prstGeom prst="roundRect">
            <a:avLst>
              <a:gd name="adj" fmla="val 7377"/>
            </a:avLst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05328" y="4306824"/>
            <a:ext cx="6827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敏 感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1859768" y="4306824"/>
            <a:ext cx="4937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客户资料 · 账单 · 风控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读：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逐个场景评估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写：不能 · OD+数据负责人双批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51888" y="5550408"/>
            <a:ext cx="8534400" cy="1115568"/>
          </a:xfrm>
          <a:prstGeom prst="roundRect">
            <a:avLst>
              <a:gd name="adj" fmla="val 7377"/>
            </a:avLst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51888" y="5550408"/>
            <a:ext cx="8534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日常业务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1859768" y="5550408"/>
            <a:ext cx="4937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询盘 · 异常台账 · 船期表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读：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授权+发链接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写：新数据进新表 · 场景单审批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98448" y="6793992"/>
            <a:ext cx="10241280" cy="1115568"/>
          </a:xfrm>
          <a:prstGeom prst="roundRect">
            <a:avLst>
              <a:gd name="adj" fmla="val 7377"/>
            </a:avLst>
          </a:prstGeom>
          <a:solidFill>
            <a:srgbClr val="FFE9D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98448" y="6793992"/>
            <a:ext cx="102412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公 开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1859768" y="6793992"/>
            <a:ext cx="4937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群公告 · 日历 · 通知类表格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读：授权后能 写：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只写自建表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· 不用专门批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24128" y="8229600"/>
            <a:ext cx="16239744" cy="777240"/>
          </a:xfrm>
          <a:prstGeom prst="roundRect">
            <a:avLst>
              <a:gd name="adj" fmla="val 9412"/>
            </a:avLst>
          </a:prstGeom>
          <a:solidFill>
            <a:srgbClr val="FBF7F2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98448" y="8229600"/>
            <a:ext cx="15736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分级是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业务判断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：“这个场景能不能用这份数据”归业务，IT 只做技术操作。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04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5.3 · 七步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场景从申请到上线，七步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017520"/>
            <a:ext cx="3991356" cy="914400"/>
          </a:xfrm>
          <a:prstGeom prst="homePlate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3017520"/>
            <a:ext cx="3717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1  填场景申请单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106924" y="3017520"/>
            <a:ext cx="3991356" cy="91440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1244" y="3017520"/>
            <a:ext cx="35524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2  分流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189720" y="3017520"/>
            <a:ext cx="3991356" cy="91440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3017520"/>
            <a:ext cx="35524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3  建号发布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3272516" y="3017520"/>
            <a:ext cx="3991356" cy="914400"/>
          </a:xfrm>
          <a:prstGeom prst="chevron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46836" y="3017520"/>
            <a:ext cx="35524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4  扫码授权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3035808" y="4160520"/>
            <a:ext cx="4681728" cy="914400"/>
          </a:xfrm>
          <a:prstGeom prst="homePlate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4160520"/>
            <a:ext cx="4407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5  定数据放哪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808976" y="4160520"/>
            <a:ext cx="4681728" cy="91440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3296" y="4160520"/>
            <a:ext cx="4242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6  上线检查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12582144" y="4160520"/>
            <a:ext cx="4681728" cy="914400"/>
          </a:xfrm>
          <a:prstGeom prst="chevron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56464" y="4160520"/>
            <a:ext cx="4242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7  登记台账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024128" y="5440680"/>
            <a:ext cx="1737360" cy="803265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" y="5440680"/>
            <a:ext cx="1737360" cy="803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1 申请单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52928" y="5404104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做什么 · 在哪个群用 · 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动哪些表 · 读还是写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5148072" y="5440680"/>
            <a:ext cx="1737360" cy="803265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29" name="Text 27"/>
          <p:cNvSpPr/>
          <p:nvPr/>
        </p:nvSpPr>
        <p:spPr>
          <a:xfrm>
            <a:off x="5148072" y="5440680"/>
            <a:ext cx="1737360" cy="803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2 分流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76872" y="5404104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平台红线 → 技术方案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；内部规则 → 审批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272016" y="5440680"/>
            <a:ext cx="1737360" cy="803265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32" name="Text 30"/>
          <p:cNvSpPr/>
          <p:nvPr/>
        </p:nvSpPr>
        <p:spPr>
          <a:xfrm>
            <a:off x="9272016" y="5440680"/>
            <a:ext cx="1737360" cy="803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3 建号发布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100816" y="5404104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IT 管理员创建或复用；发布自带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两轮审批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3395960" y="5440680"/>
            <a:ext cx="1737360" cy="803265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35" name="Text 33"/>
          <p:cNvSpPr/>
          <p:nvPr/>
        </p:nvSpPr>
        <p:spPr>
          <a:xfrm>
            <a:off x="13395960" y="5440680"/>
            <a:ext cx="1737360" cy="803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4 扫码授权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224760" y="5404104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本人扫码；企业模式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补发一次文档链接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024128" y="6675120"/>
            <a:ext cx="1737360" cy="803265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38" name="Text 36"/>
          <p:cNvSpPr/>
          <p:nvPr/>
        </p:nvSpPr>
        <p:spPr>
          <a:xfrm>
            <a:off x="1024128" y="6675120"/>
            <a:ext cx="1737360" cy="803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5 定数据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852928" y="6638544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新数据进新表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，旧表只读挂索引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5148072" y="6675120"/>
            <a:ext cx="1737360" cy="803265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41" name="Text 39"/>
          <p:cNvSpPr/>
          <p:nvPr/>
        </p:nvSpPr>
        <p:spPr>
          <a:xfrm>
            <a:off x="5148072" y="6675120"/>
            <a:ext cx="1737360" cy="803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6 上线检查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76872" y="6638544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清单逐项打勾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（见第 3 章）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9272016" y="6675120"/>
            <a:ext cx="1737360" cy="803265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44" name="Text 42"/>
          <p:cNvSpPr/>
          <p:nvPr/>
        </p:nvSpPr>
        <p:spPr>
          <a:xfrm>
            <a:off x="9272016" y="6675120"/>
            <a:ext cx="1737360" cy="803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7 登记台账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100816" y="6638544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负责人 · 机器人 · 授权人 · 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表清单 · 交接人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024128" y="809244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FDBA74">
              <a:alpha val="5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298448" y="809244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发布审批两规矩：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审批人选直属上级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（系统不带出）；申请原因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三要素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（场景 · 表 · 读/写）。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05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5.4 · 防瓶颈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别让审批变瓶颈：三个办法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108960"/>
            <a:ext cx="5166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44168" y="34290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3" name="Text 11"/>
          <p:cNvSpPr/>
          <p:nvPr/>
        </p:nvSpPr>
        <p:spPr>
          <a:xfrm>
            <a:off x="1344168" y="3429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模板化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4471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高频场景预审成模板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：信息搬运、定时汇总、群内问答——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模板内免逐个审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，只审特殊的。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556248" y="3108960"/>
            <a:ext cx="5166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76288" y="34290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7" name="Text 15"/>
          <p:cNvSpPr/>
          <p:nvPr/>
        </p:nvSpPr>
        <p:spPr>
          <a:xfrm>
            <a:off x="6876288" y="3429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限时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4251960"/>
            <a:ext cx="4471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审批限时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2 个工作日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，超时视为同意（限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公开信息、日常业务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两类低风险场景）。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2088368" y="3108960"/>
            <a:ext cx="51663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408408" y="34290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21" name="Text 19"/>
          <p:cNvSpPr/>
          <p:nvPr/>
        </p:nvSpPr>
        <p:spPr>
          <a:xfrm>
            <a:off x="12408408" y="3429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业务侧bot管理员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435840" y="4251960"/>
            <a:ext cx="4471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日常开权限交给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专人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，不都堵在 IT——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正式提议见 5.6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7008" y="6675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人人都想搭机器人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956048" y="7132320"/>
            <a:ext cx="0" cy="109728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709928" y="724204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平台权限集中少数管理员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956048" y="7699248"/>
            <a:ext cx="0" cy="109728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212848" y="780897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组织审批叠加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02368" y="7178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三重瓶颈</a:t>
            </a:r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三个办法拆掉它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06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5.5 · 分工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谁负责什么：职责分工表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4128" y="2880360"/>
          <a:ext cx="16239744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840480"/>
                <a:gridCol w="2743200"/>
                <a:gridCol w="4718304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事项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业务同事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IT / OD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数据负责人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提需求、搭机器人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牵头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知悉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配合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建机器人、开权限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知悉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IT 牵头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—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扫码授权、发链接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本人做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—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配合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定数据能不能给机器人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配合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OD 牵头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把关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场景审批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—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OD 牵头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配合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台账登记与交接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做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OD 督促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—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额度申请与充值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申请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OD 管额度池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—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1024128" y="745236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FBF7F2">
              <a:alpha val="7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745236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人走了怎么办：交接四步 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停写 → 验证 → 授权 → 收权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见第 4 章；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没台账就没有交接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07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5.6 · 核心提议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核心提议：设立业务侧bot管理员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2971800"/>
            <a:ext cx="7406640" cy="3108960"/>
          </a:xfrm>
          <a:prstGeom prst="roundRect">
            <a:avLst>
              <a:gd name="adj" fmla="val 3529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98448" y="3108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现状：都堵在 IT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389888" y="37033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 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75888" y="3977640"/>
            <a:ext cx="1554480" cy="0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89888" y="4416552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4416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 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75888" y="4690872"/>
            <a:ext cx="1554480" cy="0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89888" y="5129784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888" y="51297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 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75888" y="5404104"/>
            <a:ext cx="1554480" cy="0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21808" y="406908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5C6AA"/>
          </a:solidFill>
          <a:ln/>
        </p:spPr>
      </p:sp>
      <p:sp>
        <p:nvSpPr>
          <p:cNvPr id="23" name="Text 21"/>
          <p:cNvSpPr/>
          <p:nvPr/>
        </p:nvSpPr>
        <p:spPr>
          <a:xfrm>
            <a:off x="5321808" y="40690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DIC IT
</a:t>
            </a:r>
            <a:pPr algn="ctr"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超级管理员就几个人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44168" y="54406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审批需求正从偶发工单 → </a:t>
            </a:r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常态业务流程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887968" y="2971800"/>
            <a:ext cx="8375904" cy="3108960"/>
          </a:xfrm>
          <a:prstGeom prst="roundRect">
            <a:avLst>
              <a:gd name="adj" fmla="val 3529"/>
            </a:avLst>
          </a:prstGeom>
          <a:solidFill>
            <a:srgbClr val="FFF3E8"/>
          </a:solidFill>
          <a:ln w="19050">
            <a:solidFill>
              <a:srgbClr val="E8590C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62288" y="3108960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提议：业务侧分流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253728" y="37947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8590C"/>
          </a:solidFill>
          <a:ln/>
        </p:spPr>
      </p:sp>
      <p:sp>
        <p:nvSpPr>
          <p:cNvPr id="28" name="Text 26"/>
          <p:cNvSpPr/>
          <p:nvPr/>
        </p:nvSpPr>
        <p:spPr>
          <a:xfrm>
            <a:off x="9253728" y="3794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业务侧 bot 管理员
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1-2 人 · 专用超管账号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13277088" y="37947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77088" y="3794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DIC IT
</a:t>
            </a:r>
            <a:pPr algn="ctr" indent="0" marL="0">
              <a:buNone/>
            </a:pPr>
            <a:r>
              <a:rPr lang="en-US" sz="16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保留系统级变更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12865608" y="4480560"/>
            <a:ext cx="365760" cy="0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208008" y="5440680"/>
            <a:ext cx="7735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职责：创建审批 · 权限开启 · 范围设置 · </a:t>
            </a:r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操作留痕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24128" y="6446520"/>
            <a:ext cx="1371600" cy="87360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34" name="Text 32"/>
          <p:cNvSpPr/>
          <p:nvPr/>
        </p:nvSpPr>
        <p:spPr>
          <a:xfrm>
            <a:off x="1024128" y="6446520"/>
            <a:ext cx="1371600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时效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05456" y="6446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不排 IT 工单队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5148072" y="6446520"/>
            <a:ext cx="1371600" cy="87360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37" name="Text 35"/>
          <p:cNvSpPr/>
          <p:nvPr/>
        </p:nvSpPr>
        <p:spPr>
          <a:xfrm>
            <a:off x="5148072" y="6446520"/>
            <a:ext cx="1371600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专业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29400" y="6446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业务判断归业务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272016" y="6446520"/>
            <a:ext cx="1371600" cy="87360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40" name="Text 38"/>
          <p:cNvSpPr/>
          <p:nvPr/>
        </p:nvSpPr>
        <p:spPr>
          <a:xfrm>
            <a:off x="9272016" y="6446520"/>
            <a:ext cx="1371600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留痕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753344" y="6446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专人专号可审计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3395960" y="6446520"/>
            <a:ext cx="1371600" cy="87360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43" name="Text 41"/>
          <p:cNvSpPr/>
          <p:nvPr/>
        </p:nvSpPr>
        <p:spPr>
          <a:xfrm>
            <a:off x="13395960" y="6446520"/>
            <a:ext cx="1371600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减负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877288" y="6446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IT 回归运维本职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024128" y="7269480"/>
            <a:ext cx="16239744" cy="1234440"/>
          </a:xfrm>
          <a:prstGeom prst="roundRect">
            <a:avLst>
              <a:gd name="adj" fmla="val 5926"/>
            </a:avLst>
          </a:prstGeom>
          <a:solidFill>
            <a:srgbClr val="E8590C">
              <a:alpha val="3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298448" y="7269480"/>
            <a:ext cx="15736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⚠ 风险与对策：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超管权限下放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→ 专用账号、审批单留痕、定期审计；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不懂技术边界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→ 授权三步 + 红线清单当审批手册，IT 带教；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权责不清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→ 与 DIC IT 书面划分。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08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5.7 · 待拍板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需要管理层拍板的决策点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063240"/>
            <a:ext cx="16239744" cy="9144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5240">
            <a:solidFill>
              <a:srgbClr val="E859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2728" y="331927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与 DIC IT 的边界书面化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631168" y="3063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结论写回第五节职责表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24128" y="4206240"/>
            <a:ext cx="16239744" cy="9144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5240">
            <a:solidFill>
              <a:srgbClr val="E859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2728" y="446227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4206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数据分级表是否采纳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631168" y="4206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四级分级 · 谁批谁把关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24128" y="5349240"/>
            <a:ext cx="16239744" cy="9144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5240">
            <a:solidFill>
              <a:srgbClr val="E859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2728" y="560527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7780">
            <a:solidFill>
              <a:srgbClr val="E859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5349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业务侧bot管理员人选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631168" y="5349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1-2 人 · 专用超管账号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24128" y="68580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6858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892808" y="6839712"/>
            <a:ext cx="1440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这套提议和平台规矩是什么关系？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892808" y="7315200"/>
            <a:ext cx="14401800" cy="94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平台四步 + 六做法是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地板，没有商量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；本篇是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地板之上的管理设计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——数据分级、审批限时、业务侧bot管理员，均可调整或否决。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09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一句话总结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24128" y="2377440"/>
            <a:ext cx="548640" cy="5486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92808" y="2212848"/>
            <a:ext cx="10607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地板（平台强制）照办，天花板（管理设计）我们定。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92808" y="484632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谁用谁申请 · 审批只走一次 · 管理不拦路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数据四级分级决定机器人能碰什么；七步流程走完上线登记；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业务侧bot管理员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让审批回归业务。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892808" y="6583680"/>
            <a:ext cx="3718560" cy="87360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5" name="Text 13"/>
          <p:cNvSpPr/>
          <p:nvPr/>
        </p:nvSpPr>
        <p:spPr>
          <a:xfrm>
            <a:off x="1892808" y="6583680"/>
            <a:ext cx="3718560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第 5 章 · 提议（待管理层拍板）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企微智能机器人 SOP · 提议</dc:title>
  <dc:subject>PptxGenJS Presentation</dc:subject>
  <dc:creator>Rosetta</dc:creator>
  <cp:lastModifiedBy>Rosetta</cp:lastModifiedBy>
  <cp:revision>1</cp:revision>
  <dcterms:created xsi:type="dcterms:W3CDTF">2026-08-26T12:43:50Z</dcterms:created>
  <dcterms:modified xsi:type="dcterms:W3CDTF">2026-08-26T12:43:50Z</dcterms:modified>
</cp:coreProperties>
</file>