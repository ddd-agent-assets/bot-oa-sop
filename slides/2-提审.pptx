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4128" y="1069848"/>
            <a:ext cx="118872" cy="118872"/>
          </a:xfrm>
          <a:prstGeom prst="ellipse">
            <a:avLst/>
          </a:prstGeom>
          <a:solidFill>
            <a:srgbClr val="191919"/>
          </a:solidFill>
          <a:ln/>
        </p:spPr>
      </p:sp>
      <p:sp>
        <p:nvSpPr>
          <p:cNvPr id="3" name="Shape 1"/>
          <p:cNvSpPr/>
          <p:nvPr/>
        </p:nvSpPr>
        <p:spPr>
          <a:xfrm>
            <a:off x="1179576" y="1069848"/>
            <a:ext cx="118872" cy="118872"/>
          </a:xfrm>
          <a:prstGeom prst="ellipse">
            <a:avLst/>
          </a:prstGeom>
          <a:solidFill>
            <a:srgbClr val="FDBA74"/>
          </a:solidFill>
          <a:ln/>
        </p:spPr>
      </p:sp>
      <p:sp>
        <p:nvSpPr>
          <p:cNvPr id="4" name="Shape 2"/>
          <p:cNvSpPr/>
          <p:nvPr/>
        </p:nvSpPr>
        <p:spPr>
          <a:xfrm>
            <a:off x="1101852" y="914400"/>
            <a:ext cx="118872" cy="118872"/>
          </a:xfrm>
          <a:prstGeom prst="ellipse">
            <a:avLst/>
          </a:prstGeom>
          <a:solidFill>
            <a:srgbClr val="E8590C"/>
          </a:solidFill>
          <a:ln/>
        </p:spPr>
      </p:sp>
      <p:sp>
        <p:nvSpPr>
          <p:cNvPr id="5" name="Shape 3"/>
          <p:cNvSpPr/>
          <p:nvPr/>
        </p:nvSpPr>
        <p:spPr>
          <a:xfrm>
            <a:off x="16934688" y="932688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17780">
            <a:solidFill>
              <a:srgbClr val="19191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0" y="786384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spc="400" kern="0" dirty="0">
                <a:solidFill>
                  <a:srgbClr val="737373"/>
                </a:solidFill>
                <a:latin typeface="Consolas" pitchFamily="34" charset="0"/>
                <a:ea typeface="Microsoft YaHei"/>
                <a:cs typeface="Consolas" pitchFamily="34" charset="-120"/>
              </a:rPr>
              <a:t>WECOM-BOT SOP · 提审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5636240" y="9582912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B3A79E"/>
                </a:solidFill>
                <a:latin typeface="Consolas" pitchFamily="34" charset="0"/>
                <a:ea typeface="Microsoft YaHei"/>
                <a:cs typeface="Consolas" pitchFamily="34" charset="-120"/>
              </a:rPr>
              <a:t>01 / 09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7026128" y="9674352"/>
            <a:ext cx="91440" cy="91440"/>
          </a:xfrm>
          <a:prstGeom prst="ellipse">
            <a:avLst/>
          </a:prstGeom>
          <a:solidFill>
            <a:srgbClr val="E8590C"/>
          </a:solidFill>
          <a:ln/>
        </p:spPr>
      </p:sp>
      <p:sp>
        <p:nvSpPr>
          <p:cNvPr id="9" name="Text 7"/>
          <p:cNvSpPr/>
          <p:nvPr/>
        </p:nvSpPr>
        <p:spPr>
          <a:xfrm>
            <a:off x="950976" y="1691640"/>
            <a:ext cx="3291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dirty="0">
                <a:solidFill>
                  <a:srgbClr val="E8590C"/>
                </a:solidFill>
                <a:latin typeface="Arial Black" pitchFamily="34" charset="0"/>
                <a:ea typeface="Microsoft YaHei"/>
                <a:cs typeface="Arial Black" pitchFamily="34" charset="-120"/>
              </a:rPr>
              <a:t>02</a:t>
            </a:r>
            <a:endParaRPr lang="en-US" sz="9600" dirty="0"/>
          </a:p>
        </p:txBody>
      </p:sp>
      <p:sp>
        <p:nvSpPr>
          <p:cNvPr id="10" name="Text 8"/>
          <p:cNvSpPr/>
          <p:nvPr/>
        </p:nvSpPr>
        <p:spPr>
          <a:xfrm>
            <a:off x="1024128" y="3520440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300" kern="0" dirty="0">
                <a:solidFill>
                  <a:srgbClr val="737373"/>
                </a:solidFill>
                <a:latin typeface="Consolas" pitchFamily="34" charset="0"/>
                <a:ea typeface="Microsoft YaHei"/>
                <a:cs typeface="Consolas" pitchFamily="34" charset="-120"/>
              </a:rPr>
              <a:t>CHAPTER 02 · REVIEW &amp; AUTH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24128" y="3877056"/>
            <a:ext cx="10424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1A120C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提审：两轮审批 + 授权三步</a:t>
            </a:r>
            <a:endParaRPr lang="en-US" sz="4600" dirty="0"/>
          </a:p>
        </p:txBody>
      </p:sp>
      <p:sp>
        <p:nvSpPr>
          <p:cNvPr id="12" name="Text 10"/>
          <p:cNvSpPr/>
          <p:nvPr/>
        </p:nvSpPr>
        <p:spPr>
          <a:xfrm>
            <a:off x="1024128" y="5074920"/>
            <a:ext cx="96926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2100" dirty="0">
                <a:solidFill>
                  <a:srgbClr val="737373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发布自带两轮审批；授权总共三步，走完长期有效。红线诉求别塞进审批——批了也没用。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1024128" y="6720840"/>
            <a:ext cx="1252728" cy="838434"/>
          </a:xfrm>
          <a:prstGeom prst="roundRect">
            <a:avLst>
              <a:gd name="adj" fmla="val 50000"/>
            </a:avLst>
          </a:prstGeom>
          <a:solidFill>
            <a:srgbClr val="FBF7F2"/>
          </a:solidFill>
          <a:ln/>
        </p:spPr>
      </p:sp>
      <p:sp>
        <p:nvSpPr>
          <p:cNvPr id="14" name="Text 12"/>
          <p:cNvSpPr/>
          <p:nvPr/>
        </p:nvSpPr>
        <p:spPr>
          <a:xfrm>
            <a:off x="1024128" y="6720840"/>
            <a:ext cx="1252728" cy="8384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91919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两轮审批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2532888" y="6720840"/>
            <a:ext cx="1252728" cy="838434"/>
          </a:xfrm>
          <a:prstGeom prst="roundRect">
            <a:avLst>
              <a:gd name="adj" fmla="val 50000"/>
            </a:avLst>
          </a:prstGeom>
          <a:solidFill>
            <a:srgbClr val="FBF7F2"/>
          </a:solidFill>
          <a:ln/>
        </p:spPr>
      </p:sp>
      <p:sp>
        <p:nvSpPr>
          <p:cNvPr id="16" name="Text 14"/>
          <p:cNvSpPr/>
          <p:nvPr/>
        </p:nvSpPr>
        <p:spPr>
          <a:xfrm>
            <a:off x="2532888" y="6720840"/>
            <a:ext cx="1252728" cy="8384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91919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申请原因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4041648" y="6720840"/>
            <a:ext cx="1252728" cy="838434"/>
          </a:xfrm>
          <a:prstGeom prst="roundRect">
            <a:avLst>
              <a:gd name="adj" fmla="val 50000"/>
            </a:avLst>
          </a:prstGeom>
          <a:solidFill>
            <a:srgbClr val="FBF7F2"/>
          </a:solidFill>
          <a:ln/>
        </p:spPr>
      </p:sp>
      <p:sp>
        <p:nvSpPr>
          <p:cNvPr id="18" name="Text 16"/>
          <p:cNvSpPr/>
          <p:nvPr/>
        </p:nvSpPr>
        <p:spPr>
          <a:xfrm>
            <a:off x="4041648" y="6720840"/>
            <a:ext cx="1252728" cy="8384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91919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授权三步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550408" y="6720840"/>
            <a:ext cx="1252728" cy="838434"/>
          </a:xfrm>
          <a:prstGeom prst="roundRect">
            <a:avLst>
              <a:gd name="adj" fmla="val 50000"/>
            </a:avLst>
          </a:prstGeom>
          <a:solidFill>
            <a:srgbClr val="FBF7F2"/>
          </a:solidFill>
          <a:ln/>
        </p:spPr>
      </p:sp>
      <p:sp>
        <p:nvSpPr>
          <p:cNvPr id="20" name="Text 18"/>
          <p:cNvSpPr/>
          <p:nvPr/>
        </p:nvSpPr>
        <p:spPr>
          <a:xfrm>
            <a:off x="5550408" y="6720840"/>
            <a:ext cx="1252728" cy="8384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91919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第一次制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7059168" y="6720840"/>
            <a:ext cx="1252728" cy="838434"/>
          </a:xfrm>
          <a:prstGeom prst="roundRect">
            <a:avLst>
              <a:gd name="adj" fmla="val 50000"/>
            </a:avLst>
          </a:prstGeom>
          <a:solidFill>
            <a:srgbClr val="FBF7F2"/>
          </a:solidFill>
          <a:ln/>
        </p:spPr>
      </p:sp>
      <p:sp>
        <p:nvSpPr>
          <p:cNvPr id="22" name="Text 20"/>
          <p:cNvSpPr/>
          <p:nvPr/>
        </p:nvSpPr>
        <p:spPr>
          <a:xfrm>
            <a:off x="7059168" y="6720840"/>
            <a:ext cx="1252728" cy="8384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91919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红线速查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8567928" y="6720840"/>
            <a:ext cx="1641348" cy="838434"/>
          </a:xfrm>
          <a:prstGeom prst="roundRect">
            <a:avLst>
              <a:gd name="adj" fmla="val 50000"/>
            </a:avLst>
          </a:prstGeom>
          <a:solidFill>
            <a:srgbClr val="FBF7F2"/>
          </a:solidFill>
          <a:ln/>
        </p:spPr>
      </p:sp>
      <p:sp>
        <p:nvSpPr>
          <p:cNvPr id="24" name="Text 22"/>
          <p:cNvSpPr/>
          <p:nvPr/>
        </p:nvSpPr>
        <p:spPr>
          <a:xfrm>
            <a:off x="8567928" y="6720840"/>
            <a:ext cx="1641348" cy="8384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91919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必须走的流程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4128" y="1069848"/>
            <a:ext cx="118872" cy="118872"/>
          </a:xfrm>
          <a:prstGeom prst="ellipse">
            <a:avLst/>
          </a:prstGeom>
          <a:solidFill>
            <a:srgbClr val="191919"/>
          </a:solidFill>
          <a:ln/>
        </p:spPr>
      </p:sp>
      <p:sp>
        <p:nvSpPr>
          <p:cNvPr id="3" name="Shape 1"/>
          <p:cNvSpPr/>
          <p:nvPr/>
        </p:nvSpPr>
        <p:spPr>
          <a:xfrm>
            <a:off x="1179576" y="1069848"/>
            <a:ext cx="118872" cy="118872"/>
          </a:xfrm>
          <a:prstGeom prst="ellipse">
            <a:avLst/>
          </a:prstGeom>
          <a:solidFill>
            <a:srgbClr val="FDBA74"/>
          </a:solidFill>
          <a:ln/>
        </p:spPr>
      </p:sp>
      <p:sp>
        <p:nvSpPr>
          <p:cNvPr id="4" name="Shape 2"/>
          <p:cNvSpPr/>
          <p:nvPr/>
        </p:nvSpPr>
        <p:spPr>
          <a:xfrm>
            <a:off x="1101852" y="914400"/>
            <a:ext cx="118872" cy="118872"/>
          </a:xfrm>
          <a:prstGeom prst="ellipse">
            <a:avLst/>
          </a:prstGeom>
          <a:solidFill>
            <a:srgbClr val="E8590C"/>
          </a:solidFill>
          <a:ln/>
        </p:spPr>
      </p:sp>
      <p:sp>
        <p:nvSpPr>
          <p:cNvPr id="5" name="Shape 3"/>
          <p:cNvSpPr/>
          <p:nvPr/>
        </p:nvSpPr>
        <p:spPr>
          <a:xfrm>
            <a:off x="16934688" y="932688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17780">
            <a:solidFill>
              <a:srgbClr val="19191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0" y="786384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spc="400" kern="0" dirty="0">
                <a:solidFill>
                  <a:srgbClr val="737373"/>
                </a:solidFill>
                <a:latin typeface="Consolas" pitchFamily="34" charset="0"/>
                <a:ea typeface="Microsoft YaHei"/>
                <a:cs typeface="Consolas" pitchFamily="34" charset="-120"/>
              </a:rPr>
              <a:t>WECOM-BOT SOP · 提审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5636240" y="9582912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B3A79E"/>
                </a:solidFill>
                <a:latin typeface="Consolas" pitchFamily="34" charset="0"/>
                <a:ea typeface="Microsoft YaHei"/>
                <a:cs typeface="Consolas" pitchFamily="34" charset="-120"/>
              </a:rPr>
              <a:t>02 / 09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7026128" y="9674352"/>
            <a:ext cx="91440" cy="91440"/>
          </a:xfrm>
          <a:prstGeom prst="ellipse">
            <a:avLst/>
          </a:prstGeom>
          <a:solidFill>
            <a:srgbClr val="E8590C"/>
          </a:solidFill>
          <a:ln/>
        </p:spPr>
      </p:sp>
      <p:sp>
        <p:nvSpPr>
          <p:cNvPr id="9" name="Text 7"/>
          <p:cNvSpPr/>
          <p:nvPr/>
        </p:nvSpPr>
        <p:spPr>
          <a:xfrm>
            <a:off x="1024128" y="1499616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spc="300" kern="0" dirty="0">
                <a:solidFill>
                  <a:srgbClr val="737373"/>
                </a:solidFill>
                <a:latin typeface="Consolas" pitchFamily="34" charset="0"/>
                <a:ea typeface="Microsoft YaHei"/>
                <a:cs typeface="Consolas" pitchFamily="34" charset="-120"/>
              </a:rPr>
              <a:t>2.1 · 发布审批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24128" y="1828800"/>
            <a:ext cx="12801600" cy="795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91919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发布先过两轮审批：上级 + 管理员</a:t>
            </a:r>
            <a:endParaRPr lang="en-US" sz="4000" dirty="0"/>
          </a:p>
        </p:txBody>
      </p:sp>
      <p:sp>
        <p:nvSpPr>
          <p:cNvPr id="11" name="Shape 9"/>
          <p:cNvSpPr/>
          <p:nvPr/>
        </p:nvSpPr>
        <p:spPr>
          <a:xfrm>
            <a:off x="1024128" y="3291840"/>
            <a:ext cx="2651760" cy="1188720"/>
          </a:xfrm>
          <a:prstGeom prst="roundRect">
            <a:avLst>
              <a:gd name="adj" fmla="val 7692"/>
            </a:avLst>
          </a:prstGeom>
          <a:solidFill>
            <a:srgbClr val="FBF7F2"/>
          </a:solidFill>
          <a:ln w="12700">
            <a:solidFill>
              <a:srgbClr val="F0E2D6"/>
            </a:solidFill>
            <a:prstDash val="solid"/>
          </a:ln>
          <a:effectLst>
            <a:outerShdw sx="100000" sy="100000" kx="0" ky="0" algn="bl" rotWithShape="0" blurRad="88900" dist="25400" dir="5400000">
              <a:srgbClr val="111827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133856" y="3291840"/>
            <a:ext cx="243230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91919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提交发布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3767328" y="3886200"/>
            <a:ext cx="365760" cy="0"/>
          </a:xfrm>
          <a:prstGeom prst="line">
            <a:avLst/>
          </a:prstGeom>
          <a:noFill/>
          <a:ln w="25400">
            <a:solidFill>
              <a:srgbClr val="E8590C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4178808" y="3108960"/>
            <a:ext cx="3291840" cy="1554480"/>
          </a:xfrm>
          <a:prstGeom prst="roundRect">
            <a:avLst>
              <a:gd name="adj" fmla="val 5882"/>
            </a:avLst>
          </a:prstGeom>
          <a:solidFill>
            <a:srgbClr val="FDBA74"/>
          </a:solidFill>
          <a:ln w="12700">
            <a:solidFill>
              <a:srgbClr val="F0E2D6"/>
            </a:solidFill>
            <a:prstDash val="solid"/>
          </a:ln>
          <a:effectLst>
            <a:outerShdw sx="100000" sy="100000" kx="0" ky="0" algn="bl" rotWithShape="0" blurRad="88900" dist="25400" dir="5400000">
              <a:srgbClr val="111827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306824" y="3108960"/>
            <a:ext cx="303580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2200" b="1" dirty="0">
                <a:solidFill>
                  <a:srgbClr val="191919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第一轮 · 上级审批</a:t>
            </a:r>
            <a:endParaRPr lang="en-US" sz="2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737373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审批人 = 提交者自己选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7543800" y="3886200"/>
            <a:ext cx="365760" cy="0"/>
          </a:xfrm>
          <a:prstGeom prst="line">
            <a:avLst/>
          </a:prstGeom>
          <a:noFill/>
          <a:ln w="25400">
            <a:solidFill>
              <a:srgbClr val="E8590C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973568" y="3108960"/>
            <a:ext cx="3291840" cy="1554480"/>
          </a:xfrm>
          <a:prstGeom prst="roundRect">
            <a:avLst>
              <a:gd name="adj" fmla="val 5882"/>
            </a:avLst>
          </a:prstGeom>
          <a:solidFill>
            <a:srgbClr val="FDBA74"/>
          </a:solidFill>
          <a:ln w="12700">
            <a:solidFill>
              <a:srgbClr val="F0E2D6"/>
            </a:solidFill>
            <a:prstDash val="solid"/>
          </a:ln>
          <a:effectLst>
            <a:outerShdw sx="100000" sy="100000" kx="0" ky="0" algn="bl" rotWithShape="0" blurRad="88900" dist="25400" dir="5400000">
              <a:srgbClr val="111827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101584" y="3108960"/>
            <a:ext cx="303580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2200" b="1" dirty="0">
                <a:solidFill>
                  <a:srgbClr val="191919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第二轮 · 管理员审批</a:t>
            </a:r>
            <a:endParaRPr lang="en-US" sz="2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737373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上级通过后流转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11841480" y="3886200"/>
            <a:ext cx="365760" cy="0"/>
          </a:xfrm>
          <a:prstGeom prst="line">
            <a:avLst/>
          </a:prstGeom>
          <a:noFill/>
          <a:ln w="25400">
            <a:solidFill>
              <a:srgbClr val="E8590C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11768328" y="3291840"/>
            <a:ext cx="2651760" cy="1188720"/>
          </a:xfrm>
          <a:prstGeom prst="roundRect">
            <a:avLst>
              <a:gd name="adj" fmla="val 7692"/>
            </a:avLst>
          </a:prstGeom>
          <a:solidFill>
            <a:srgbClr val="E8590C"/>
          </a:solidFill>
          <a:ln w="12700">
            <a:solidFill>
              <a:srgbClr val="F0E2D6"/>
            </a:solidFill>
            <a:prstDash val="solid"/>
          </a:ln>
          <a:effectLst>
            <a:outerShdw sx="100000" sy="100000" kx="0" ky="0" algn="bl" rotWithShape="0" blurRad="88900" dist="25400" dir="5400000">
              <a:srgbClr val="111827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11878056" y="3291840"/>
            <a:ext cx="243230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发布成功 ✓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1024128" y="5257800"/>
            <a:ext cx="16239744" cy="1188720"/>
          </a:xfrm>
          <a:prstGeom prst="roundRect">
            <a:avLst>
              <a:gd name="adj" fmla="val 6154"/>
            </a:avLst>
          </a:prstGeom>
          <a:solidFill>
            <a:srgbClr val="E8590C">
              <a:alpha val="38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1298448" y="5257800"/>
            <a:ext cx="1573682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191919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⚠ 审批人要选 </a:t>
            </a:r>
            <a:pPr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191919"/>
                </a:solidFill>
                <a:highlight>
                  <a:srgbClr val="FFF3B0"/>
                </a:highlight>
                <a:latin typeface="Microsoft YaHei" pitchFamily="34" charset="0"/>
                <a:ea typeface="Microsoft YaHei"/>
                <a:cs typeface="Microsoft YaHei" pitchFamily="34" charset="-120"/>
              </a:rPr>
              <a:t>直属上级</a:t>
            </a:r>
            <a:pPr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191919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。系统</a:t>
            </a:r>
            <a:pPr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191919"/>
                </a:solidFill>
                <a:highlight>
                  <a:srgbClr val="FFF3B0"/>
                </a:highlight>
                <a:latin typeface="Microsoft YaHei" pitchFamily="34" charset="0"/>
                <a:ea typeface="Microsoft YaHei"/>
                <a:cs typeface="Microsoft YaHei" pitchFamily="34" charset="-120"/>
              </a:rPr>
              <a:t>不会自动带出</a:t>
            </a:r>
            <a:pPr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191919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直属上级（实测：组织架构配了也没用）。不定规矩就会变成“挑个好说话的批”。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1024128" y="6720840"/>
            <a:ext cx="16239744" cy="868680"/>
          </a:xfrm>
          <a:prstGeom prst="roundRect">
            <a:avLst>
              <a:gd name="adj" fmla="val 8421"/>
            </a:avLst>
          </a:prstGeom>
          <a:solidFill>
            <a:srgbClr val="FDBA74">
              <a:alpha val="55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1298448" y="6720840"/>
            <a:ext cx="157368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191919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别混淆：</a:t>
            </a:r>
            <a:pPr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191919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发布审批和</a:t>
            </a:r>
            <a:pPr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191919"/>
                </a:solidFill>
                <a:highlight>
                  <a:srgbClr val="FFF3B0"/>
                </a:highlight>
                <a:latin typeface="Microsoft YaHei" pitchFamily="34" charset="0"/>
                <a:ea typeface="Microsoft YaHei"/>
                <a:cs typeface="Microsoft YaHei" pitchFamily="34" charset="-120"/>
              </a:rPr>
              <a:t>授权三步是两回事</a:t>
            </a:r>
            <a:pPr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191919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，发布通过后才走授权。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4128" y="1069848"/>
            <a:ext cx="118872" cy="118872"/>
          </a:xfrm>
          <a:prstGeom prst="ellipse">
            <a:avLst/>
          </a:prstGeom>
          <a:solidFill>
            <a:srgbClr val="191919"/>
          </a:solidFill>
          <a:ln/>
        </p:spPr>
      </p:sp>
      <p:sp>
        <p:nvSpPr>
          <p:cNvPr id="3" name="Shape 1"/>
          <p:cNvSpPr/>
          <p:nvPr/>
        </p:nvSpPr>
        <p:spPr>
          <a:xfrm>
            <a:off x="1179576" y="1069848"/>
            <a:ext cx="118872" cy="118872"/>
          </a:xfrm>
          <a:prstGeom prst="ellipse">
            <a:avLst/>
          </a:prstGeom>
          <a:solidFill>
            <a:srgbClr val="FDBA74"/>
          </a:solidFill>
          <a:ln/>
        </p:spPr>
      </p:sp>
      <p:sp>
        <p:nvSpPr>
          <p:cNvPr id="4" name="Shape 2"/>
          <p:cNvSpPr/>
          <p:nvPr/>
        </p:nvSpPr>
        <p:spPr>
          <a:xfrm>
            <a:off x="1101852" y="914400"/>
            <a:ext cx="118872" cy="118872"/>
          </a:xfrm>
          <a:prstGeom prst="ellipse">
            <a:avLst/>
          </a:prstGeom>
          <a:solidFill>
            <a:srgbClr val="E8590C"/>
          </a:solidFill>
          <a:ln/>
        </p:spPr>
      </p:sp>
      <p:sp>
        <p:nvSpPr>
          <p:cNvPr id="5" name="Shape 3"/>
          <p:cNvSpPr/>
          <p:nvPr/>
        </p:nvSpPr>
        <p:spPr>
          <a:xfrm>
            <a:off x="16934688" y="932688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17780">
            <a:solidFill>
              <a:srgbClr val="19191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0" y="786384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spc="400" kern="0" dirty="0">
                <a:solidFill>
                  <a:srgbClr val="737373"/>
                </a:solidFill>
                <a:latin typeface="Consolas" pitchFamily="34" charset="0"/>
                <a:ea typeface="Microsoft YaHei"/>
                <a:cs typeface="Consolas" pitchFamily="34" charset="-120"/>
              </a:rPr>
              <a:t>WECOM-BOT SOP · 提审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5636240" y="9582912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B3A79E"/>
                </a:solidFill>
                <a:latin typeface="Consolas" pitchFamily="34" charset="0"/>
                <a:ea typeface="Microsoft YaHei"/>
                <a:cs typeface="Consolas" pitchFamily="34" charset="-120"/>
              </a:rPr>
              <a:t>03 / 09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7026128" y="9674352"/>
            <a:ext cx="91440" cy="91440"/>
          </a:xfrm>
          <a:prstGeom prst="ellipse">
            <a:avLst/>
          </a:prstGeom>
          <a:solidFill>
            <a:srgbClr val="E8590C"/>
          </a:solidFill>
          <a:ln/>
        </p:spPr>
      </p:sp>
      <p:sp>
        <p:nvSpPr>
          <p:cNvPr id="9" name="Text 7"/>
          <p:cNvSpPr/>
          <p:nvPr/>
        </p:nvSpPr>
        <p:spPr>
          <a:xfrm>
            <a:off x="1024128" y="1499616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spc="300" kern="0" dirty="0">
                <a:solidFill>
                  <a:srgbClr val="737373"/>
                </a:solidFill>
                <a:latin typeface="Consolas" pitchFamily="34" charset="0"/>
                <a:ea typeface="Microsoft YaHei"/>
                <a:cs typeface="Consolas" pitchFamily="34" charset="-120"/>
              </a:rPr>
              <a:t>2.2 · 申请原因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24128" y="1828800"/>
            <a:ext cx="12801600" cy="795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91919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申请原因：界面只显示 2 行，一句话三带</a:t>
            </a:r>
            <a:endParaRPr lang="en-US" sz="4000" dirty="0"/>
          </a:p>
        </p:txBody>
      </p:sp>
      <p:sp>
        <p:nvSpPr>
          <p:cNvPr id="11" name="Shape 9"/>
          <p:cNvSpPr/>
          <p:nvPr/>
        </p:nvSpPr>
        <p:spPr>
          <a:xfrm>
            <a:off x="1024128" y="2971800"/>
            <a:ext cx="5166360" cy="1828800"/>
          </a:xfrm>
          <a:prstGeom prst="roundRect">
            <a:avLst>
              <a:gd name="adj" fmla="val 5000"/>
            </a:avLst>
          </a:prstGeom>
          <a:solidFill>
            <a:srgbClr val="FBF7F2"/>
          </a:solidFill>
          <a:ln/>
          <a:effectLst>
            <a:outerShdw sx="100000" sy="100000" kx="0" ky="0" algn="bl" rotWithShape="0" blurRad="88900" dist="25400" dir="5400000">
              <a:srgbClr val="111827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344168" y="3474720"/>
            <a:ext cx="822960" cy="822960"/>
          </a:xfrm>
          <a:prstGeom prst="ellipse">
            <a:avLst/>
          </a:prstGeom>
          <a:solidFill>
            <a:srgbClr val="E8590C"/>
          </a:solidFill>
          <a:ln/>
        </p:spPr>
      </p:sp>
      <p:sp>
        <p:nvSpPr>
          <p:cNvPr id="13" name="Text 11"/>
          <p:cNvSpPr/>
          <p:nvPr/>
        </p:nvSpPr>
        <p:spPr>
          <a:xfrm>
            <a:off x="1344168" y="34747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带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2395728" y="3429000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91919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干什么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2395728" y="402336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737373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做什么场景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556248" y="2971800"/>
            <a:ext cx="5166360" cy="1828800"/>
          </a:xfrm>
          <a:prstGeom prst="roundRect">
            <a:avLst>
              <a:gd name="adj" fmla="val 5000"/>
            </a:avLst>
          </a:prstGeom>
          <a:solidFill>
            <a:srgbClr val="FBF7F2"/>
          </a:solidFill>
          <a:ln/>
          <a:effectLst>
            <a:outerShdw sx="100000" sy="100000" kx="0" ky="0" algn="bl" rotWithShape="0" blurRad="88900" dist="25400" dir="5400000">
              <a:srgbClr val="111827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876288" y="3474720"/>
            <a:ext cx="822960" cy="822960"/>
          </a:xfrm>
          <a:prstGeom prst="ellipse">
            <a:avLst/>
          </a:prstGeom>
          <a:solidFill>
            <a:srgbClr val="E8590C"/>
          </a:solidFill>
          <a:ln/>
        </p:spPr>
      </p:sp>
      <p:sp>
        <p:nvSpPr>
          <p:cNvPr id="18" name="Text 16"/>
          <p:cNvSpPr/>
          <p:nvPr/>
        </p:nvSpPr>
        <p:spPr>
          <a:xfrm>
            <a:off x="6876288" y="34747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带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7927848" y="3429000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91919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哪张表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7927848" y="402336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737373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写明新表还是旧表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12088368" y="2971800"/>
            <a:ext cx="5166360" cy="1828800"/>
          </a:xfrm>
          <a:prstGeom prst="roundRect">
            <a:avLst>
              <a:gd name="adj" fmla="val 5000"/>
            </a:avLst>
          </a:prstGeom>
          <a:solidFill>
            <a:srgbClr val="FBF7F2"/>
          </a:solidFill>
          <a:ln/>
          <a:effectLst>
            <a:outerShdw sx="100000" sy="100000" kx="0" ky="0" algn="bl" rotWithShape="0" blurRad="88900" dist="25400" dir="5400000">
              <a:srgbClr val="111827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12408408" y="3474720"/>
            <a:ext cx="822960" cy="822960"/>
          </a:xfrm>
          <a:prstGeom prst="ellipse">
            <a:avLst/>
          </a:prstGeom>
          <a:solidFill>
            <a:srgbClr val="E8590C"/>
          </a:solidFill>
          <a:ln/>
        </p:spPr>
      </p:sp>
      <p:sp>
        <p:nvSpPr>
          <p:cNvPr id="23" name="Text 21"/>
          <p:cNvSpPr/>
          <p:nvPr/>
        </p:nvSpPr>
        <p:spPr>
          <a:xfrm>
            <a:off x="12408408" y="34747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带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13459968" y="3429000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91919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读还是写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13459968" y="402336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737373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动作说清楚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1024128" y="5120640"/>
            <a:ext cx="16239744" cy="1645920"/>
          </a:xfrm>
          <a:prstGeom prst="roundRect">
            <a:avLst>
              <a:gd name="adj" fmla="val 5556"/>
            </a:avLst>
          </a:prstGeom>
          <a:solidFill>
            <a:srgbClr val="2A2018"/>
          </a:solidFill>
          <a:ln/>
          <a:effectLst>
            <a:outerShdw sx="100000" sy="100000" kx="0" ky="0" algn="bl" rotWithShape="0" blurRad="88900" dist="25400" dir="5400000">
              <a:srgbClr val="111827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1225296" y="5285232"/>
            <a:ext cx="109728" cy="109728"/>
          </a:xfrm>
          <a:prstGeom prst="ellipse">
            <a:avLst/>
          </a:prstGeom>
          <a:solidFill>
            <a:srgbClr val="FDBA74"/>
          </a:solidFill>
          <a:ln/>
        </p:spPr>
      </p:sp>
      <p:sp>
        <p:nvSpPr>
          <p:cNvPr id="28" name="Shape 26"/>
          <p:cNvSpPr/>
          <p:nvPr/>
        </p:nvSpPr>
        <p:spPr>
          <a:xfrm>
            <a:off x="1408176" y="5285232"/>
            <a:ext cx="109728" cy="109728"/>
          </a:xfrm>
          <a:prstGeom prst="ellipse">
            <a:avLst/>
          </a:prstGeom>
          <a:solidFill>
            <a:srgbClr val="E8590C"/>
          </a:solidFill>
          <a:ln/>
        </p:spPr>
      </p:sp>
      <p:sp>
        <p:nvSpPr>
          <p:cNvPr id="29" name="Shape 27"/>
          <p:cNvSpPr/>
          <p:nvPr/>
        </p:nvSpPr>
        <p:spPr>
          <a:xfrm>
            <a:off x="1591056" y="5285232"/>
            <a:ext cx="109728" cy="109728"/>
          </a:xfrm>
          <a:prstGeom prst="ellipse">
            <a:avLst/>
          </a:prstGeom>
          <a:solidFill>
            <a:srgbClr val="5A6472"/>
          </a:solidFill>
          <a:ln/>
        </p:spPr>
      </p:sp>
      <p:sp>
        <p:nvSpPr>
          <p:cNvPr id="30" name="Text 28"/>
          <p:cNvSpPr/>
          <p:nvPr/>
        </p:nvSpPr>
        <p:spPr>
          <a:xfrm>
            <a:off x="15069312" y="52120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6B7683"/>
                </a:solidFill>
                <a:latin typeface="Consolas" pitchFamily="34" charset="0"/>
                <a:ea typeface="Microsoft YaHei"/>
                <a:cs typeface="Consolas" pitchFamily="34" charset="-120"/>
              </a:rPr>
              <a:t>范本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1133856" y="5541264"/>
            <a:ext cx="16020288" cy="0"/>
          </a:xfrm>
          <a:prstGeom prst="line">
            <a:avLst/>
          </a:prstGeom>
          <a:noFill/>
          <a:ln w="9525">
            <a:solidFill>
              <a:srgbClr val="343B4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298448" y="5687568"/>
            <a:ext cx="1569110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2F5F8"/>
                </a:solidFill>
                <a:latin typeface="Consolas" pitchFamily="34" charset="0"/>
                <a:ea typeface="Microsoft YaHei"/>
                <a:cs typeface="Consolas" pitchFamily="34" charset="-120"/>
              </a:rPr>
              <a:t>每周及到港前自动查询船公司ETA变化，写入机器人自建的《船期ETA表》</a:t>
            </a:r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8A96A5"/>
                </a:solidFill>
                <a:latin typeface="Consolas" pitchFamily="34" charset="0"/>
                <a:ea typeface="Microsoft YaHei"/>
                <a:cs typeface="Consolas" pitchFamily="34" charset="-120"/>
              </a:rPr>
              <a:t>  # 照这个结构写</a:t>
            </a:r>
            <a:pPr indent="0" marL="0">
              <a:lnSpc>
                <a:spcPct val="130000"/>
              </a:lnSpc>
              <a:buNone/>
            </a:pPr>
            <a:endParaRPr lang="en-US" sz="1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2F5F8"/>
                </a:solidFill>
                <a:latin typeface="Consolas" pitchFamily="34" charset="0"/>
                <a:ea typeface="Microsoft YaHei"/>
                <a:cs typeface="Consolas" pitchFamily="34" charset="-120"/>
              </a:rPr>
              <a:t>（只写新表不碰旧表），提高客服人效和客户服务体验。</a:t>
            </a:r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8A96A5"/>
                </a:solidFill>
                <a:latin typeface="Consolas" pitchFamily="34" charset="0"/>
                <a:ea typeface="Microsoft YaHei"/>
                <a:cs typeface="Consolas" pitchFamily="34" charset="-120"/>
              </a:rPr>
              <a:t>  # 两行以内说完</a:t>
            </a:r>
            <a:pPr indent="0" marL="0">
              <a:lnSpc>
                <a:spcPct val="130000"/>
              </a:lnSpc>
              <a:buNone/>
            </a:pP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1024128" y="7178040"/>
            <a:ext cx="162397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737373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管理员只扫三点：</a:t>
            </a:r>
            <a:pPr indent="0" marL="0">
              <a:buNone/>
            </a:pPr>
            <a:r>
              <a:rPr lang="en-US" sz="1900" dirty="0">
                <a:solidFill>
                  <a:srgbClr val="737373"/>
                </a:solidFill>
                <a:highlight>
                  <a:srgbClr val="FFF3B0"/>
                </a:highlight>
                <a:latin typeface="Microsoft YaHei" pitchFamily="34" charset="0"/>
                <a:ea typeface="Microsoft YaHei"/>
                <a:cs typeface="Microsoft YaHei" pitchFamily="34" charset="-120"/>
              </a:rPr>
              <a:t>表名 · 危险词（写现有表）· 敏感数据词</a:t>
            </a:r>
            <a:pPr indent="0" marL="0">
              <a:buNone/>
            </a:pPr>
            <a:r>
              <a:rPr lang="en-US" sz="1900" dirty="0">
                <a:solidFill>
                  <a:srgbClr val="737373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   ｜   不要求：背景、技术方案；“工作需要”“测试用”一律打回</a:t>
            </a:r>
            <a:endParaRPr lang="en-US" sz="1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4128" y="1069848"/>
            <a:ext cx="118872" cy="118872"/>
          </a:xfrm>
          <a:prstGeom prst="ellipse">
            <a:avLst/>
          </a:prstGeom>
          <a:solidFill>
            <a:srgbClr val="191919"/>
          </a:solidFill>
          <a:ln/>
        </p:spPr>
      </p:sp>
      <p:sp>
        <p:nvSpPr>
          <p:cNvPr id="3" name="Shape 1"/>
          <p:cNvSpPr/>
          <p:nvPr/>
        </p:nvSpPr>
        <p:spPr>
          <a:xfrm>
            <a:off x="1179576" y="1069848"/>
            <a:ext cx="118872" cy="118872"/>
          </a:xfrm>
          <a:prstGeom prst="ellipse">
            <a:avLst/>
          </a:prstGeom>
          <a:solidFill>
            <a:srgbClr val="FDBA74"/>
          </a:solidFill>
          <a:ln/>
        </p:spPr>
      </p:sp>
      <p:sp>
        <p:nvSpPr>
          <p:cNvPr id="4" name="Shape 2"/>
          <p:cNvSpPr/>
          <p:nvPr/>
        </p:nvSpPr>
        <p:spPr>
          <a:xfrm>
            <a:off x="1101852" y="914400"/>
            <a:ext cx="118872" cy="118872"/>
          </a:xfrm>
          <a:prstGeom prst="ellipse">
            <a:avLst/>
          </a:prstGeom>
          <a:solidFill>
            <a:srgbClr val="E8590C"/>
          </a:solidFill>
          <a:ln/>
        </p:spPr>
      </p:sp>
      <p:sp>
        <p:nvSpPr>
          <p:cNvPr id="5" name="Shape 3"/>
          <p:cNvSpPr/>
          <p:nvPr/>
        </p:nvSpPr>
        <p:spPr>
          <a:xfrm>
            <a:off x="16934688" y="932688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17780">
            <a:solidFill>
              <a:srgbClr val="19191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0" y="786384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spc="400" kern="0" dirty="0">
                <a:solidFill>
                  <a:srgbClr val="737373"/>
                </a:solidFill>
                <a:latin typeface="Consolas" pitchFamily="34" charset="0"/>
                <a:ea typeface="Microsoft YaHei"/>
                <a:cs typeface="Consolas" pitchFamily="34" charset="-120"/>
              </a:rPr>
              <a:t>WECOM-BOT SOP · 提审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5636240" y="9582912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B3A79E"/>
                </a:solidFill>
                <a:latin typeface="Consolas" pitchFamily="34" charset="0"/>
                <a:ea typeface="Microsoft YaHei"/>
                <a:cs typeface="Consolas" pitchFamily="34" charset="-120"/>
              </a:rPr>
              <a:t>04 / 09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7026128" y="9674352"/>
            <a:ext cx="91440" cy="91440"/>
          </a:xfrm>
          <a:prstGeom prst="ellipse">
            <a:avLst/>
          </a:prstGeom>
          <a:solidFill>
            <a:srgbClr val="E8590C"/>
          </a:solidFill>
          <a:ln/>
        </p:spPr>
      </p:sp>
      <p:sp>
        <p:nvSpPr>
          <p:cNvPr id="9" name="Text 7"/>
          <p:cNvSpPr/>
          <p:nvPr/>
        </p:nvSpPr>
        <p:spPr>
          <a:xfrm>
            <a:off x="1024128" y="1499616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spc="300" kern="0" dirty="0">
                <a:solidFill>
                  <a:srgbClr val="737373"/>
                </a:solidFill>
                <a:latin typeface="Consolas" pitchFamily="34" charset="0"/>
                <a:ea typeface="Microsoft YaHei"/>
                <a:cs typeface="Consolas" pitchFamily="34" charset="-120"/>
              </a:rPr>
              <a:t>2.3 · 授权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24128" y="1828800"/>
            <a:ext cx="12801600" cy="795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91919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授权三步：建号开权限 → 本人扫码 → 发链接</a:t>
            </a:r>
            <a:endParaRPr lang="en-US" sz="4000" dirty="0"/>
          </a:p>
        </p:txBody>
      </p:sp>
      <p:sp>
        <p:nvSpPr>
          <p:cNvPr id="11" name="Shape 9"/>
          <p:cNvSpPr/>
          <p:nvPr/>
        </p:nvSpPr>
        <p:spPr>
          <a:xfrm>
            <a:off x="3223260" y="2971800"/>
            <a:ext cx="768096" cy="768096"/>
          </a:xfrm>
          <a:prstGeom prst="ellipse">
            <a:avLst/>
          </a:prstGeom>
          <a:solidFill>
            <a:srgbClr val="FDBA74"/>
          </a:solidFill>
          <a:ln/>
          <a:effectLst>
            <a:outerShdw sx="100000" sy="100000" kx="0" ky="0" algn="bl" rotWithShape="0" blurRad="88900" dist="25400" dir="5400000">
              <a:srgbClr val="111827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223260" y="2971800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Arial Black" pitchFamily="34" charset="0"/>
                <a:ea typeface="Microsoft YaHei"/>
                <a:cs typeface="Arial Black" pitchFamily="34" charset="-120"/>
              </a:rPr>
              <a:t>IT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1024128" y="3831336"/>
            <a:ext cx="5166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91919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DIC IT 管理员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024128" y="4233672"/>
            <a:ext cx="5166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spc="100" kern="0" dirty="0">
                <a:solidFill>
                  <a:srgbClr val="E8590C"/>
                </a:solidFill>
                <a:latin typeface="Consolas" pitchFamily="34" charset="0"/>
                <a:ea typeface="Microsoft YaHei"/>
                <a:cs typeface="Consolas" pitchFamily="34" charset="-120"/>
              </a:rPr>
              <a:t>每机器人一次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1188720" y="4663440"/>
            <a:ext cx="4837176" cy="566928"/>
          </a:xfrm>
          <a:prstGeom prst="roundRect">
            <a:avLst>
              <a:gd name="adj" fmla="val 12903"/>
            </a:avLst>
          </a:prstGeom>
          <a:solidFill>
            <a:srgbClr val="FBF7F2"/>
          </a:solidFill>
          <a:ln w="12700">
            <a:solidFill>
              <a:srgbClr val="F0E2D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353312" y="4663440"/>
            <a:ext cx="45079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900" dirty="0">
                <a:solidFill>
                  <a:srgbClr val="737373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创建机器人（API 模式 · 长连接）</a:t>
            </a:r>
            <a:endParaRPr lang="en-US" sz="1900" dirty="0"/>
          </a:p>
        </p:txBody>
      </p:sp>
      <p:sp>
        <p:nvSpPr>
          <p:cNvPr id="17" name="Shape 15"/>
          <p:cNvSpPr/>
          <p:nvPr/>
        </p:nvSpPr>
        <p:spPr>
          <a:xfrm>
            <a:off x="1188720" y="5394960"/>
            <a:ext cx="4837176" cy="566928"/>
          </a:xfrm>
          <a:prstGeom prst="roundRect">
            <a:avLst>
              <a:gd name="adj" fmla="val 12903"/>
            </a:avLst>
          </a:prstGeom>
          <a:solidFill>
            <a:srgbClr val="FBF7F2"/>
          </a:solidFill>
          <a:ln w="12700">
            <a:solidFill>
              <a:srgbClr val="F0E2D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353312" y="5394960"/>
            <a:ext cx="45079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900" dirty="0">
                <a:solidFill>
                  <a:srgbClr val="737373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配可用范围：只开给实际使用的人</a:t>
            </a:r>
            <a:endParaRPr lang="en-US" sz="1900" dirty="0"/>
          </a:p>
        </p:txBody>
      </p:sp>
      <p:sp>
        <p:nvSpPr>
          <p:cNvPr id="19" name="Shape 17"/>
          <p:cNvSpPr/>
          <p:nvPr/>
        </p:nvSpPr>
        <p:spPr>
          <a:xfrm>
            <a:off x="1188720" y="6126480"/>
            <a:ext cx="4837176" cy="566928"/>
          </a:xfrm>
          <a:prstGeom prst="roundRect">
            <a:avLst>
              <a:gd name="adj" fmla="val 12903"/>
            </a:avLst>
          </a:prstGeom>
          <a:solidFill>
            <a:srgbClr val="FBF7F2"/>
          </a:solidFill>
          <a:ln w="12700">
            <a:solidFill>
              <a:srgbClr val="F0E2D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353312" y="6126480"/>
            <a:ext cx="45079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900" dirty="0">
                <a:solidFill>
                  <a:srgbClr val="737373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逐项开默认关闭的权限</a:t>
            </a:r>
            <a:endParaRPr lang="en-US" sz="1900" dirty="0"/>
          </a:p>
        </p:txBody>
      </p:sp>
      <p:sp>
        <p:nvSpPr>
          <p:cNvPr id="21" name="Shape 19"/>
          <p:cNvSpPr/>
          <p:nvPr/>
        </p:nvSpPr>
        <p:spPr>
          <a:xfrm>
            <a:off x="6208776" y="3355848"/>
            <a:ext cx="329184" cy="0"/>
          </a:xfrm>
          <a:prstGeom prst="line">
            <a:avLst/>
          </a:prstGeom>
          <a:noFill/>
          <a:ln w="25400">
            <a:solidFill>
              <a:srgbClr val="E8590C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8755380" y="2971800"/>
            <a:ext cx="768096" cy="768096"/>
          </a:xfrm>
          <a:prstGeom prst="ellipse">
            <a:avLst/>
          </a:prstGeom>
          <a:solidFill>
            <a:srgbClr val="E8590C"/>
          </a:solidFill>
          <a:ln/>
          <a:effectLst>
            <a:outerShdw sx="100000" sy="100000" kx="0" ky="0" algn="bl" rotWithShape="0" blurRad="88900" dist="25400" dir="5400000">
              <a:srgbClr val="111827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8755380" y="2971800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Arial Black" pitchFamily="34" charset="0"/>
                <a:ea typeface="Microsoft YaHei"/>
                <a:cs typeface="Arial Black" pitchFamily="34" charset="-120"/>
              </a:rPr>
              <a:t>人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6556248" y="3831336"/>
            <a:ext cx="5166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91919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搭建者本人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6556248" y="4233672"/>
            <a:ext cx="5166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spc="100" kern="0" dirty="0">
                <a:solidFill>
                  <a:srgbClr val="E8590C"/>
                </a:solidFill>
                <a:latin typeface="Consolas" pitchFamily="34" charset="0"/>
                <a:ea typeface="Microsoft YaHei"/>
                <a:cs typeface="Consolas" pitchFamily="34" charset="-120"/>
              </a:rPr>
              <a:t>每人一次 · 不能代办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720840" y="4663440"/>
            <a:ext cx="4837176" cy="566928"/>
          </a:xfrm>
          <a:prstGeom prst="roundRect">
            <a:avLst>
              <a:gd name="adj" fmla="val 12903"/>
            </a:avLst>
          </a:prstGeom>
          <a:solidFill>
            <a:srgbClr val="FBF7F2"/>
          </a:solidFill>
          <a:ln w="12700">
            <a:solidFill>
              <a:srgbClr val="F0E2D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85432" y="4663440"/>
            <a:ext cx="45079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900" dirty="0">
                <a:solidFill>
                  <a:srgbClr val="737373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机器人管理 → 编辑 → 可使用权限</a:t>
            </a:r>
            <a:endParaRPr lang="en-US" sz="1900" dirty="0"/>
          </a:p>
        </p:txBody>
      </p:sp>
      <p:sp>
        <p:nvSpPr>
          <p:cNvPr id="28" name="Shape 26"/>
          <p:cNvSpPr/>
          <p:nvPr/>
        </p:nvSpPr>
        <p:spPr>
          <a:xfrm>
            <a:off x="6720840" y="5394960"/>
            <a:ext cx="4837176" cy="566928"/>
          </a:xfrm>
          <a:prstGeom prst="roundRect">
            <a:avLst>
              <a:gd name="adj" fmla="val 12903"/>
            </a:avLst>
          </a:prstGeom>
          <a:solidFill>
            <a:srgbClr val="FBF7F2"/>
          </a:solidFill>
          <a:ln w="12700">
            <a:solidFill>
              <a:srgbClr val="F0E2D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85432" y="5394960"/>
            <a:ext cx="45079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900" dirty="0">
                <a:solidFill>
                  <a:srgbClr val="737373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企微扫码，授予「文档」权限</a:t>
            </a:r>
            <a:endParaRPr lang="en-US" sz="1900" dirty="0"/>
          </a:p>
        </p:txBody>
      </p:sp>
      <p:sp>
        <p:nvSpPr>
          <p:cNvPr id="30" name="Shape 28"/>
          <p:cNvSpPr/>
          <p:nvPr/>
        </p:nvSpPr>
        <p:spPr>
          <a:xfrm>
            <a:off x="11740896" y="3355848"/>
            <a:ext cx="329184" cy="0"/>
          </a:xfrm>
          <a:prstGeom prst="line">
            <a:avLst/>
          </a:prstGeom>
          <a:noFill/>
          <a:ln w="25400">
            <a:solidFill>
              <a:srgbClr val="E8590C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14287500" y="2971800"/>
            <a:ext cx="768096" cy="768096"/>
          </a:xfrm>
          <a:prstGeom prst="ellipse">
            <a:avLst/>
          </a:prstGeom>
          <a:solidFill>
            <a:srgbClr val="FDBA74"/>
          </a:solidFill>
          <a:ln/>
          <a:effectLst>
            <a:outerShdw sx="100000" sy="100000" kx="0" ky="0" algn="bl" rotWithShape="0" blurRad="88900" dist="25400" dir="5400000">
              <a:srgbClr val="111827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14287500" y="2971800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Arial Black" pitchFamily="34" charset="0"/>
                <a:ea typeface="Microsoft YaHei"/>
                <a:cs typeface="Arial Black" pitchFamily="34" charset="-120"/>
              </a:rPr>
              <a:t>表</a:t>
            </a:r>
            <a:endParaRPr lang="en-US" sz="2600" dirty="0"/>
          </a:p>
        </p:txBody>
      </p:sp>
      <p:sp>
        <p:nvSpPr>
          <p:cNvPr id="33" name="Text 31"/>
          <p:cNvSpPr/>
          <p:nvPr/>
        </p:nvSpPr>
        <p:spPr>
          <a:xfrm>
            <a:off x="12088368" y="3831336"/>
            <a:ext cx="5166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91919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数据负责人 / 使用者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12088368" y="4233672"/>
            <a:ext cx="5166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spc="100" kern="0" dirty="0">
                <a:solidFill>
                  <a:srgbClr val="E8590C"/>
                </a:solidFill>
                <a:latin typeface="Consolas" pitchFamily="34" charset="0"/>
                <a:ea typeface="Microsoft YaHei"/>
                <a:cs typeface="Consolas" pitchFamily="34" charset="-120"/>
              </a:rPr>
              <a:t>每文档一次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12252960" y="4663440"/>
            <a:ext cx="4837176" cy="566928"/>
          </a:xfrm>
          <a:prstGeom prst="roundRect">
            <a:avLst>
              <a:gd name="adj" fmla="val 12903"/>
            </a:avLst>
          </a:prstGeom>
          <a:solidFill>
            <a:srgbClr val="FBF7F2"/>
          </a:solidFill>
          <a:ln w="12700">
            <a:solidFill>
              <a:srgbClr val="F0E2D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2417552" y="4663440"/>
            <a:ext cx="45079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900" dirty="0">
                <a:solidFill>
                  <a:srgbClr val="737373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把要读的文档链接发给机器人</a:t>
            </a:r>
            <a:endParaRPr lang="en-US" sz="1900" dirty="0"/>
          </a:p>
        </p:txBody>
      </p:sp>
      <p:sp>
        <p:nvSpPr>
          <p:cNvPr id="37" name="Shape 35"/>
          <p:cNvSpPr/>
          <p:nvPr/>
        </p:nvSpPr>
        <p:spPr>
          <a:xfrm>
            <a:off x="12252960" y="5394960"/>
            <a:ext cx="4837176" cy="566928"/>
          </a:xfrm>
          <a:prstGeom prst="roundRect">
            <a:avLst>
              <a:gd name="adj" fmla="val 12903"/>
            </a:avLst>
          </a:prstGeom>
          <a:solidFill>
            <a:srgbClr val="FBF7F2"/>
          </a:solidFill>
          <a:ln w="12700">
            <a:solidFill>
              <a:srgbClr val="F0E2D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2417552" y="5394960"/>
            <a:ext cx="45079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900" dirty="0">
                <a:solidFill>
                  <a:srgbClr val="737373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大企业必做；小团队不需要</a:t>
            </a:r>
            <a:endParaRPr lang="en-US" sz="1900" dirty="0"/>
          </a:p>
        </p:txBody>
      </p:sp>
      <p:sp>
        <p:nvSpPr>
          <p:cNvPr id="39" name="Shape 37"/>
          <p:cNvSpPr/>
          <p:nvPr/>
        </p:nvSpPr>
        <p:spPr>
          <a:xfrm>
            <a:off x="1024128" y="6858000"/>
            <a:ext cx="16239744" cy="868680"/>
          </a:xfrm>
          <a:prstGeom prst="roundRect">
            <a:avLst>
              <a:gd name="adj" fmla="val 8421"/>
            </a:avLst>
          </a:prstGeom>
          <a:solidFill>
            <a:srgbClr val="FDBA74">
              <a:alpha val="55000"/>
            </a:srgbClr>
          </a:solidFill>
          <a:ln/>
        </p:spPr>
      </p:sp>
      <p:sp>
        <p:nvSpPr>
          <p:cNvPr id="40" name="Text 38"/>
          <p:cNvSpPr/>
          <p:nvPr/>
        </p:nvSpPr>
        <p:spPr>
          <a:xfrm>
            <a:off x="1298448" y="6858000"/>
            <a:ext cx="157368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191919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走完三步</a:t>
            </a:r>
            <a:pPr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191919"/>
                </a:solidFill>
                <a:highlight>
                  <a:srgbClr val="FFF3B0"/>
                </a:highlight>
                <a:latin typeface="Microsoft YaHei" pitchFamily="34" charset="0"/>
                <a:ea typeface="Microsoft YaHei"/>
                <a:cs typeface="Microsoft YaHei" pitchFamily="34" charset="-120"/>
              </a:rPr>
              <a:t>长期有效</a:t>
            </a:r>
            <a:pPr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191919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。重走流程只有三种情况：</a:t>
            </a:r>
            <a:pPr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191919"/>
                </a:solidFill>
                <a:highlight>
                  <a:srgbClr val="FFF3B0"/>
                </a:highlight>
                <a:latin typeface="Microsoft YaHei" pitchFamily="34" charset="0"/>
                <a:ea typeface="Microsoft YaHei"/>
                <a:cs typeface="Microsoft YaHei" pitchFamily="34" charset="-120"/>
              </a:rPr>
              <a:t>换表 · 扩权限 · 换负责人</a:t>
            </a:r>
            <a:pPr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191919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。</a:t>
            </a:r>
            <a:endParaRPr lang="en-US" sz="2000" dirty="0"/>
          </a:p>
        </p:txBody>
      </p:sp>
      <p:sp>
        <p:nvSpPr>
          <p:cNvPr id="41" name="Shape 39"/>
          <p:cNvSpPr/>
          <p:nvPr/>
        </p:nvSpPr>
        <p:spPr>
          <a:xfrm>
            <a:off x="1024128" y="8001000"/>
            <a:ext cx="16239744" cy="868680"/>
          </a:xfrm>
          <a:prstGeom prst="roundRect">
            <a:avLst>
              <a:gd name="adj" fmla="val 8421"/>
            </a:avLst>
          </a:prstGeom>
          <a:solidFill>
            <a:srgbClr val="E8590C">
              <a:alpha val="38000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1298448" y="8001000"/>
            <a:ext cx="157368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191919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⚠ 待核实：官方写 </a:t>
            </a:r>
            <a:pPr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191919"/>
                </a:solidFill>
                <a:highlight>
                  <a:srgbClr val="FFF3B0"/>
                </a:highlight>
                <a:latin typeface="Microsoft YaHei" pitchFamily="34" charset="0"/>
                <a:ea typeface="Microsoft YaHei"/>
                <a:cs typeface="Microsoft YaHei" pitchFamily="34" charset="-120"/>
              </a:rPr>
              <a:t>“授权有效期 7 天”</a:t>
            </a:r>
            <a:pPr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191919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，与实测矛盾——突然报无权限先重新扫码并记录反馈。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4128" y="1069848"/>
            <a:ext cx="118872" cy="118872"/>
          </a:xfrm>
          <a:prstGeom prst="ellipse">
            <a:avLst/>
          </a:prstGeom>
          <a:solidFill>
            <a:srgbClr val="191919"/>
          </a:solidFill>
          <a:ln/>
        </p:spPr>
      </p:sp>
      <p:sp>
        <p:nvSpPr>
          <p:cNvPr id="3" name="Shape 1"/>
          <p:cNvSpPr/>
          <p:nvPr/>
        </p:nvSpPr>
        <p:spPr>
          <a:xfrm>
            <a:off x="1179576" y="1069848"/>
            <a:ext cx="118872" cy="118872"/>
          </a:xfrm>
          <a:prstGeom prst="ellipse">
            <a:avLst/>
          </a:prstGeom>
          <a:solidFill>
            <a:srgbClr val="FDBA74"/>
          </a:solidFill>
          <a:ln/>
        </p:spPr>
      </p:sp>
      <p:sp>
        <p:nvSpPr>
          <p:cNvPr id="4" name="Shape 2"/>
          <p:cNvSpPr/>
          <p:nvPr/>
        </p:nvSpPr>
        <p:spPr>
          <a:xfrm>
            <a:off x="1101852" y="914400"/>
            <a:ext cx="118872" cy="118872"/>
          </a:xfrm>
          <a:prstGeom prst="ellipse">
            <a:avLst/>
          </a:prstGeom>
          <a:solidFill>
            <a:srgbClr val="E8590C"/>
          </a:solidFill>
          <a:ln/>
        </p:spPr>
      </p:sp>
      <p:sp>
        <p:nvSpPr>
          <p:cNvPr id="5" name="Shape 3"/>
          <p:cNvSpPr/>
          <p:nvPr/>
        </p:nvSpPr>
        <p:spPr>
          <a:xfrm>
            <a:off x="16934688" y="932688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17780">
            <a:solidFill>
              <a:srgbClr val="19191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0" y="786384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spc="400" kern="0" dirty="0">
                <a:solidFill>
                  <a:srgbClr val="737373"/>
                </a:solidFill>
                <a:latin typeface="Consolas" pitchFamily="34" charset="0"/>
                <a:ea typeface="Microsoft YaHei"/>
                <a:cs typeface="Consolas" pitchFamily="34" charset="-120"/>
              </a:rPr>
              <a:t>WECOM-BOT SOP · 提审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5636240" y="9582912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B3A79E"/>
                </a:solidFill>
                <a:latin typeface="Consolas" pitchFamily="34" charset="0"/>
                <a:ea typeface="Microsoft YaHei"/>
                <a:cs typeface="Consolas" pitchFamily="34" charset="-120"/>
              </a:rPr>
              <a:t>05 / 09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7026128" y="9674352"/>
            <a:ext cx="91440" cy="91440"/>
          </a:xfrm>
          <a:prstGeom prst="ellipse">
            <a:avLst/>
          </a:prstGeom>
          <a:solidFill>
            <a:srgbClr val="E8590C"/>
          </a:solidFill>
          <a:ln/>
        </p:spPr>
      </p:sp>
      <p:sp>
        <p:nvSpPr>
          <p:cNvPr id="9" name="Text 7"/>
          <p:cNvSpPr/>
          <p:nvPr/>
        </p:nvSpPr>
        <p:spPr>
          <a:xfrm>
            <a:off x="1024128" y="1499616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spc="300" kern="0" dirty="0">
                <a:solidFill>
                  <a:srgbClr val="737373"/>
                </a:solidFill>
                <a:latin typeface="Consolas" pitchFamily="34" charset="0"/>
                <a:ea typeface="Microsoft YaHei"/>
                <a:cs typeface="Consolas" pitchFamily="34" charset="-120"/>
              </a:rPr>
              <a:t>2.4 · 常见困惑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24128" y="1828800"/>
            <a:ext cx="12801600" cy="795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91919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常见困惑：授权</a:t>
            </a:r>
            <a:endParaRPr lang="en-US" sz="4000" dirty="0"/>
          </a:p>
        </p:txBody>
      </p:sp>
      <p:sp>
        <p:nvSpPr>
          <p:cNvPr id="11" name="Shape 9"/>
          <p:cNvSpPr/>
          <p:nvPr/>
        </p:nvSpPr>
        <p:spPr>
          <a:xfrm>
            <a:off x="1024128" y="3108960"/>
            <a:ext cx="566928" cy="566928"/>
          </a:xfrm>
          <a:prstGeom prst="roundRect">
            <a:avLst>
              <a:gd name="adj" fmla="val 50000"/>
            </a:avLst>
          </a:prstGeom>
          <a:solidFill>
            <a:srgbClr val="FDBA74"/>
          </a:solidFill>
          <a:ln/>
        </p:spPr>
      </p:sp>
      <p:sp>
        <p:nvSpPr>
          <p:cNvPr id="12" name="Text 10"/>
          <p:cNvSpPr/>
          <p:nvPr/>
        </p:nvSpPr>
        <p:spPr>
          <a:xfrm>
            <a:off x="1024128" y="31089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91919"/>
                </a:solidFill>
                <a:latin typeface="Arial Black" pitchFamily="34" charset="0"/>
                <a:ea typeface="Microsoft YaHei"/>
                <a:cs typeface="Arial Black" pitchFamily="34" charset="-120"/>
              </a:rPr>
              <a:t>?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892808" y="3090672"/>
            <a:ext cx="1440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91919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机器人每次改文档都要审批吗？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1892808" y="3566160"/>
            <a:ext cx="14401800" cy="943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800" dirty="0">
                <a:solidFill>
                  <a:srgbClr val="737373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不用，</a:t>
            </a:r>
            <a:pPr indent="0" marL="0">
              <a:lnSpc>
                <a:spcPct val="120000"/>
              </a:lnSpc>
              <a:buNone/>
            </a:pPr>
            <a:r>
              <a:rPr lang="en-US" sz="2800" dirty="0">
                <a:solidFill>
                  <a:srgbClr val="737373"/>
                </a:solidFill>
                <a:highlight>
                  <a:srgbClr val="FFF3B0"/>
                </a:highlight>
                <a:latin typeface="Microsoft YaHei" pitchFamily="34" charset="0"/>
                <a:ea typeface="Microsoft YaHei"/>
                <a:cs typeface="Microsoft YaHei" pitchFamily="34" charset="-120"/>
              </a:rPr>
              <a:t>“第一次制”不是“每次制”</a:t>
            </a:r>
            <a:pPr indent="0" marL="0">
              <a:lnSpc>
                <a:spcPct val="120000"/>
              </a:lnSpc>
              <a:buNone/>
            </a:pPr>
            <a:r>
              <a:rPr lang="en-US" sz="2800" dirty="0">
                <a:solidFill>
                  <a:srgbClr val="737373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——每机器人一次、每人一次、每文档一次。之后日常读写</a:t>
            </a:r>
            <a:pPr indent="0" marL="0">
              <a:lnSpc>
                <a:spcPct val="120000"/>
              </a:lnSpc>
              <a:buNone/>
            </a:pPr>
            <a:r>
              <a:rPr lang="en-US" sz="2800" dirty="0">
                <a:solidFill>
                  <a:srgbClr val="737373"/>
                </a:solidFill>
                <a:highlight>
                  <a:srgbClr val="FFF3B0"/>
                </a:highlight>
                <a:latin typeface="Microsoft YaHei" pitchFamily="34" charset="0"/>
                <a:ea typeface="Microsoft YaHei"/>
                <a:cs typeface="Microsoft YaHei" pitchFamily="34" charset="-120"/>
              </a:rPr>
              <a:t>静默执行，不弹确认</a:t>
            </a:r>
            <a:pPr indent="0" marL="0">
              <a:lnSpc>
                <a:spcPct val="120000"/>
              </a:lnSpc>
              <a:buNone/>
            </a:pPr>
            <a:r>
              <a:rPr lang="en-US" sz="2800" dirty="0">
                <a:solidFill>
                  <a:srgbClr val="737373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。</a:t>
            </a:r>
            <a:endParaRPr lang="en-US" sz="2800" dirty="0"/>
          </a:p>
        </p:txBody>
      </p:sp>
      <p:sp>
        <p:nvSpPr>
          <p:cNvPr id="15" name="Shape 13"/>
          <p:cNvSpPr/>
          <p:nvPr/>
        </p:nvSpPr>
        <p:spPr>
          <a:xfrm>
            <a:off x="1024128" y="5212080"/>
            <a:ext cx="566928" cy="566928"/>
          </a:xfrm>
          <a:prstGeom prst="roundRect">
            <a:avLst>
              <a:gd name="adj" fmla="val 50000"/>
            </a:avLst>
          </a:prstGeom>
          <a:solidFill>
            <a:srgbClr val="FDBA74"/>
          </a:solidFill>
          <a:ln/>
        </p:spPr>
      </p:sp>
      <p:sp>
        <p:nvSpPr>
          <p:cNvPr id="16" name="Text 14"/>
          <p:cNvSpPr/>
          <p:nvPr/>
        </p:nvSpPr>
        <p:spPr>
          <a:xfrm>
            <a:off x="1024128" y="52120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91919"/>
                </a:solidFill>
                <a:latin typeface="Arial Black" pitchFamily="34" charset="0"/>
                <a:ea typeface="Microsoft YaHei"/>
                <a:cs typeface="Arial Black" pitchFamily="34" charset="-120"/>
              </a:rPr>
              <a:t>?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892808" y="5193792"/>
            <a:ext cx="1440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91919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管理员能替业务同事扫码授权吗？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1892808" y="5669280"/>
            <a:ext cx="14401800" cy="943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800" dirty="0">
                <a:solidFill>
                  <a:srgbClr val="737373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不能。授权的是</a:t>
            </a:r>
            <a:pPr indent="0" marL="0">
              <a:lnSpc>
                <a:spcPct val="120000"/>
              </a:lnSpc>
              <a:buNone/>
            </a:pPr>
            <a:r>
              <a:rPr lang="en-US" sz="2800" dirty="0">
                <a:solidFill>
                  <a:srgbClr val="737373"/>
                </a:solidFill>
                <a:highlight>
                  <a:srgbClr val="FFF3B0"/>
                </a:highlight>
                <a:latin typeface="Microsoft YaHei" pitchFamily="34" charset="0"/>
                <a:ea typeface="Microsoft YaHei"/>
                <a:cs typeface="Microsoft YaHei" pitchFamily="34" charset="-120"/>
              </a:rPr>
              <a:t>“读你可见的文档”</a:t>
            </a:r>
            <a:pPr indent="0" marL="0">
              <a:lnSpc>
                <a:spcPct val="120000"/>
              </a:lnSpc>
              <a:buNone/>
            </a:pPr>
            <a:r>
              <a:rPr lang="en-US" sz="2800" dirty="0">
                <a:solidFill>
                  <a:srgbClr val="737373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，谁的数据谁本人扫——通常就是搭建者，</a:t>
            </a:r>
            <a:pPr indent="0" marL="0">
              <a:lnSpc>
                <a:spcPct val="120000"/>
              </a:lnSpc>
              <a:buNone/>
            </a:pPr>
            <a:r>
              <a:rPr lang="en-US" sz="2800" dirty="0">
                <a:solidFill>
                  <a:srgbClr val="737373"/>
                </a:solidFill>
                <a:highlight>
                  <a:srgbClr val="FFF3B0"/>
                </a:highlight>
                <a:latin typeface="Microsoft YaHei" pitchFamily="34" charset="0"/>
                <a:ea typeface="Microsoft YaHei"/>
                <a:cs typeface="Microsoft YaHei" pitchFamily="34" charset="-120"/>
              </a:rPr>
              <a:t>不能代办、不能批量</a:t>
            </a:r>
            <a:pPr indent="0" marL="0">
              <a:lnSpc>
                <a:spcPct val="120000"/>
              </a:lnSpc>
              <a:buNone/>
            </a:pPr>
            <a:r>
              <a:rPr lang="en-US" sz="2800" dirty="0">
                <a:solidFill>
                  <a:srgbClr val="737373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。</a:t>
            </a:r>
            <a:endParaRPr lang="en-US" sz="2800" dirty="0"/>
          </a:p>
        </p:txBody>
      </p:sp>
      <p:sp>
        <p:nvSpPr>
          <p:cNvPr id="19" name="Shape 17"/>
          <p:cNvSpPr/>
          <p:nvPr/>
        </p:nvSpPr>
        <p:spPr>
          <a:xfrm>
            <a:off x="1024128" y="7315200"/>
            <a:ext cx="566928" cy="566928"/>
          </a:xfrm>
          <a:prstGeom prst="roundRect">
            <a:avLst>
              <a:gd name="adj" fmla="val 50000"/>
            </a:avLst>
          </a:prstGeom>
          <a:solidFill>
            <a:srgbClr val="FDBA74"/>
          </a:solidFill>
          <a:ln/>
        </p:spPr>
      </p:sp>
      <p:sp>
        <p:nvSpPr>
          <p:cNvPr id="20" name="Text 18"/>
          <p:cNvSpPr/>
          <p:nvPr/>
        </p:nvSpPr>
        <p:spPr>
          <a:xfrm>
            <a:off x="1024128" y="7315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91919"/>
                </a:solidFill>
                <a:latin typeface="Arial Black" pitchFamily="34" charset="0"/>
                <a:ea typeface="Microsoft YaHei"/>
                <a:cs typeface="Arial Black" pitchFamily="34" charset="-120"/>
              </a:rPr>
              <a:t>?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892808" y="7296912"/>
            <a:ext cx="1440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91919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小团队也要发文档链接吗？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1892808" y="7772400"/>
            <a:ext cx="1440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800" dirty="0">
                <a:solidFill>
                  <a:srgbClr val="737373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10 人以内不需要；</a:t>
            </a:r>
            <a:pPr indent="0" marL="0">
              <a:lnSpc>
                <a:spcPct val="120000"/>
              </a:lnSpc>
              <a:buNone/>
            </a:pPr>
            <a:r>
              <a:rPr lang="en-US" sz="2800" dirty="0">
                <a:solidFill>
                  <a:srgbClr val="737373"/>
                </a:solidFill>
                <a:highlight>
                  <a:srgbClr val="FFF3B0"/>
                </a:highlight>
                <a:latin typeface="Microsoft YaHei" pitchFamily="34" charset="0"/>
                <a:ea typeface="Microsoft YaHei"/>
                <a:cs typeface="Microsoft YaHei" pitchFamily="34" charset="-120"/>
              </a:rPr>
              <a:t>大企业必做</a:t>
            </a:r>
            <a:pPr indent="0" marL="0">
              <a:lnSpc>
                <a:spcPct val="120000"/>
              </a:lnSpc>
              <a:buNone/>
            </a:pPr>
            <a:r>
              <a:rPr lang="en-US" sz="2800" dirty="0">
                <a:solidFill>
                  <a:srgbClr val="737373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——每个要读的文档，链接都要发给机器人一次。</a:t>
            </a:r>
            <a:endParaRPr lang="en-US" sz="2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4128" y="1069848"/>
            <a:ext cx="118872" cy="118872"/>
          </a:xfrm>
          <a:prstGeom prst="ellipse">
            <a:avLst/>
          </a:prstGeom>
          <a:solidFill>
            <a:srgbClr val="191919"/>
          </a:solidFill>
          <a:ln/>
        </p:spPr>
      </p:sp>
      <p:sp>
        <p:nvSpPr>
          <p:cNvPr id="3" name="Shape 1"/>
          <p:cNvSpPr/>
          <p:nvPr/>
        </p:nvSpPr>
        <p:spPr>
          <a:xfrm>
            <a:off x="1179576" y="1069848"/>
            <a:ext cx="118872" cy="118872"/>
          </a:xfrm>
          <a:prstGeom prst="ellipse">
            <a:avLst/>
          </a:prstGeom>
          <a:solidFill>
            <a:srgbClr val="FDBA74"/>
          </a:solidFill>
          <a:ln/>
        </p:spPr>
      </p:sp>
      <p:sp>
        <p:nvSpPr>
          <p:cNvPr id="4" name="Shape 2"/>
          <p:cNvSpPr/>
          <p:nvPr/>
        </p:nvSpPr>
        <p:spPr>
          <a:xfrm>
            <a:off x="1101852" y="914400"/>
            <a:ext cx="118872" cy="118872"/>
          </a:xfrm>
          <a:prstGeom prst="ellipse">
            <a:avLst/>
          </a:prstGeom>
          <a:solidFill>
            <a:srgbClr val="E8590C"/>
          </a:solidFill>
          <a:ln/>
        </p:spPr>
      </p:sp>
      <p:sp>
        <p:nvSpPr>
          <p:cNvPr id="5" name="Shape 3"/>
          <p:cNvSpPr/>
          <p:nvPr/>
        </p:nvSpPr>
        <p:spPr>
          <a:xfrm>
            <a:off x="16934688" y="932688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17780">
            <a:solidFill>
              <a:srgbClr val="19191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0" y="786384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spc="400" kern="0" dirty="0">
                <a:solidFill>
                  <a:srgbClr val="737373"/>
                </a:solidFill>
                <a:latin typeface="Consolas" pitchFamily="34" charset="0"/>
                <a:ea typeface="Microsoft YaHei"/>
                <a:cs typeface="Consolas" pitchFamily="34" charset="-120"/>
              </a:rPr>
              <a:t>WECOM-BOT SOP · 提审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5636240" y="9582912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B3A79E"/>
                </a:solidFill>
                <a:latin typeface="Consolas" pitchFamily="34" charset="0"/>
                <a:ea typeface="Microsoft YaHei"/>
                <a:cs typeface="Consolas" pitchFamily="34" charset="-120"/>
              </a:rPr>
              <a:t>06 / 09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7026128" y="9674352"/>
            <a:ext cx="91440" cy="91440"/>
          </a:xfrm>
          <a:prstGeom prst="ellipse">
            <a:avLst/>
          </a:prstGeom>
          <a:solidFill>
            <a:srgbClr val="E8590C"/>
          </a:solidFill>
          <a:ln/>
        </p:spPr>
      </p:sp>
      <p:sp>
        <p:nvSpPr>
          <p:cNvPr id="9" name="Text 7"/>
          <p:cNvSpPr/>
          <p:nvPr/>
        </p:nvSpPr>
        <p:spPr>
          <a:xfrm>
            <a:off x="1024128" y="1499616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spc="300" kern="0" dirty="0">
                <a:solidFill>
                  <a:srgbClr val="737373"/>
                </a:solidFill>
                <a:latin typeface="Consolas" pitchFamily="34" charset="0"/>
                <a:ea typeface="Microsoft YaHei"/>
                <a:cs typeface="Consolas" pitchFamily="34" charset="-120"/>
              </a:rPr>
              <a:t>2.5 · 红线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24128" y="1828800"/>
            <a:ext cx="12801600" cy="795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91919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红线速查：批了也没用，别往审批里塞</a:t>
            </a:r>
            <a:endParaRPr lang="en-US" sz="4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24128" y="2880360"/>
          <a:ext cx="16239744" cy="914400"/>
        </p:xfrm>
        <a:graphic>
          <a:graphicData uri="http://schemas.openxmlformats.org/drawingml/2006/table">
            <a:tbl>
              <a:tblPr/>
              <a:tblGrid>
                <a:gridCol w="8412480"/>
                <a:gridCol w="7827264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91919"/>
                          </a:solidFill>
                          <a:latin typeface="Microsoft YaHei" pitchFamily="34" charset="0"/>
                          <a:ea typeface="Microsoft YaHei"/>
                          <a:cs typeface="Microsoft YaHei" pitchFamily="34" charset="-120"/>
                        </a:rPr>
                        <a:t>红线（平台固定行为）</a:t>
                      </a:r>
                      <a:endParaRPr lang="en-US" sz="1800" dirty="0">
                        <a:latin typeface="Microsoft YaHei" charset="0"/>
                        <a:ea typeface="Microsoft YaHei"/>
                        <a:cs typeface="Microsoft YaHe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F0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BA7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91919"/>
                          </a:solidFill>
                          <a:latin typeface="Microsoft YaHei" pitchFamily="34" charset="0"/>
                          <a:ea typeface="Microsoft YaHei"/>
                          <a:cs typeface="Microsoft YaHei" pitchFamily="34" charset="-120"/>
                        </a:rPr>
                        <a:t>怎么绕</a:t>
                      </a:r>
                      <a:endParaRPr lang="en-US" sz="1800" dirty="0">
                        <a:latin typeface="Microsoft YaHei" charset="0"/>
                        <a:ea typeface="Microsoft YaHei"/>
                        <a:cs typeface="Microsoft YaHe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F0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BA74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737373"/>
                          </a:solidFill>
                          <a:latin typeface="Microsoft YaHei" pitchFamily="34" charset="0"/>
                          <a:ea typeface="Microsoft YaHei"/>
                          <a:cs typeface="Microsoft YaHei" pitchFamily="34" charset="-120"/>
                        </a:rPr>
                        <a:t>① 写不了别人建的表</a:t>
                      </a:r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737373"/>
                          </a:solidFill>
                          <a:highlight>
                            <a:srgbClr val="FFF3B0"/>
                          </a:highlight>
                          <a:latin typeface="Microsoft YaHei" pitchFamily="34" charset="0"/>
                          <a:ea typeface="Microsoft YaHei"/>
                          <a:cs typeface="Microsoft YaHei" pitchFamily="34" charset="-120"/>
                        </a:rPr>
                        <a:t>（共享也不行）</a:t>
                      </a:r>
                      <a:endParaRPr lang="en-US" sz="1800" dirty="0">
                        <a:latin typeface="Microsoft YaHei" charset="0"/>
                        <a:ea typeface="Microsoft YaHei"/>
                        <a:cs typeface="Microsoft YaHe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F0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737373"/>
                          </a:solidFill>
                          <a:highlight>
                            <a:srgbClr val="FFF3B0"/>
                          </a:highlight>
                          <a:latin typeface="Microsoft YaHei" pitchFamily="34" charset="0"/>
                          <a:ea typeface="Microsoft YaHei"/>
                          <a:cs typeface="Microsoft YaHei" pitchFamily="34" charset="-120"/>
                        </a:rPr>
                        <a:t>建新表</a:t>
                      </a:r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737373"/>
                          </a:solidFill>
                          <a:latin typeface="Microsoft YaHei" pitchFamily="34" charset="0"/>
                          <a:ea typeface="Microsoft YaHei"/>
                          <a:cs typeface="Microsoft YaHei" pitchFamily="34" charset="-120"/>
                        </a:rPr>
                        <a:t>记新数据，旧表挂索引</a:t>
                      </a:r>
                      <a:endParaRPr lang="en-US" sz="1800" dirty="0">
                        <a:latin typeface="Microsoft YaHei" charset="0"/>
                        <a:ea typeface="Microsoft YaHei"/>
                        <a:cs typeface="Microsoft YaHe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F0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D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737373"/>
                          </a:solidFill>
                          <a:latin typeface="Microsoft YaHei" pitchFamily="34" charset="0"/>
                          <a:ea typeface="Microsoft YaHei"/>
                          <a:cs typeface="Microsoft YaHei" pitchFamily="34" charset="-120"/>
                        </a:rPr>
                        <a:t>② 读别人的表要授权 + 发链接</a:t>
                      </a:r>
                      <a:endParaRPr lang="en-US" sz="1800" dirty="0">
                        <a:latin typeface="Microsoft YaHei" charset="0"/>
                        <a:ea typeface="Microsoft YaHei"/>
                        <a:cs typeface="Microsoft YaHe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F0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737373"/>
                          </a:solidFill>
                          <a:latin typeface="Microsoft YaHei" pitchFamily="34" charset="0"/>
                          <a:ea typeface="Microsoft YaHei"/>
                          <a:cs typeface="Microsoft YaHei" pitchFamily="34" charset="-120"/>
                        </a:rPr>
                        <a:t>提前做好授权三步的 </a:t>
                      </a:r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737373"/>
                          </a:solidFill>
                          <a:highlight>
                            <a:srgbClr val="FFF3B0"/>
                          </a:highlight>
                          <a:latin typeface="Microsoft YaHei" pitchFamily="34" charset="0"/>
                          <a:ea typeface="Microsoft YaHei"/>
                          <a:cs typeface="Microsoft YaHei" pitchFamily="34" charset="-120"/>
                        </a:rPr>
                        <a:t>第二、三步</a:t>
                      </a:r>
                      <a:endParaRPr lang="en-US" sz="1800" dirty="0">
                        <a:latin typeface="Microsoft YaHei" charset="0"/>
                        <a:ea typeface="Microsoft YaHei"/>
                        <a:cs typeface="Microsoft YaHe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F0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737373"/>
                          </a:solidFill>
                          <a:latin typeface="Microsoft YaHei" pitchFamily="34" charset="0"/>
                          <a:ea typeface="Microsoft YaHei"/>
                          <a:cs typeface="Microsoft YaHei" pitchFamily="34" charset="-120"/>
                        </a:rPr>
                        <a:t>③ 智能表格最多单独授权 20 人</a:t>
                      </a:r>
                      <a:endParaRPr lang="en-US" sz="1800" dirty="0">
                        <a:latin typeface="Microsoft YaHei" charset="0"/>
                        <a:ea typeface="Microsoft YaHei"/>
                        <a:cs typeface="Microsoft YaHe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F0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737373"/>
                          </a:solidFill>
                          <a:highlight>
                            <a:srgbClr val="FFF3B0"/>
                          </a:highlight>
                          <a:latin typeface="Microsoft YaHei" pitchFamily="34" charset="0"/>
                          <a:ea typeface="Microsoft YaHei"/>
                          <a:cs typeface="Microsoft YaHei" pitchFamily="34" charset="-120"/>
                        </a:rPr>
                        <a:t>按群/全员设置</a:t>
                      </a:r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737373"/>
                          </a:solidFill>
                          <a:latin typeface="Microsoft YaHei" pitchFamily="34" charset="0"/>
                          <a:ea typeface="Microsoft YaHei"/>
                          <a:cs typeface="Microsoft YaHei" pitchFamily="34" charset="-120"/>
                        </a:rPr>
                        <a:t>，或拆表</a:t>
                      </a:r>
                      <a:endParaRPr lang="en-US" sz="1800" dirty="0">
                        <a:latin typeface="Microsoft YaHei" charset="0"/>
                        <a:ea typeface="Microsoft YaHei"/>
                        <a:cs typeface="Microsoft YaHe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F0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D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737373"/>
                          </a:solidFill>
                          <a:latin typeface="Microsoft YaHei" pitchFamily="34" charset="0"/>
                          <a:ea typeface="Microsoft YaHei"/>
                          <a:cs typeface="Microsoft YaHei" pitchFamily="34" charset="-120"/>
                        </a:rPr>
                        <a:t>④ 智能表格权限只有三档（看/改/管理）</a:t>
                      </a:r>
                      <a:endParaRPr lang="en-US" sz="1800" dirty="0">
                        <a:latin typeface="Microsoft YaHei" charset="0"/>
                        <a:ea typeface="Microsoft YaHei"/>
                        <a:cs typeface="Microsoft YaHe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F0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737373"/>
                          </a:solidFill>
                          <a:highlight>
                            <a:srgbClr val="FFF3B0"/>
                          </a:highlight>
                          <a:latin typeface="Microsoft YaHei" pitchFamily="34" charset="0"/>
                          <a:ea typeface="Microsoft YaHei"/>
                          <a:cs typeface="Microsoft YaHei" pitchFamily="34" charset="-120"/>
                        </a:rPr>
                        <a:t>敏感数据拆表</a:t>
                      </a:r>
                      <a:endParaRPr lang="en-US" sz="1800" dirty="0">
                        <a:latin typeface="Microsoft YaHei" charset="0"/>
                        <a:ea typeface="Microsoft YaHei"/>
                        <a:cs typeface="Microsoft YaHe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F0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737373"/>
                          </a:solidFill>
                          <a:latin typeface="Microsoft YaHei" pitchFamily="34" charset="0"/>
                          <a:ea typeface="Microsoft YaHei"/>
                          <a:cs typeface="Microsoft YaHei" pitchFamily="34" charset="-120"/>
                        </a:rPr>
                        <a:t>⑤ 机器人只有建它的人能用</a:t>
                      </a:r>
                      <a:endParaRPr lang="en-US" sz="1800" dirty="0">
                        <a:latin typeface="Microsoft YaHei" charset="0"/>
                        <a:ea typeface="Microsoft YaHei"/>
                        <a:cs typeface="Microsoft YaHe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F0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737373"/>
                          </a:solidFill>
                          <a:highlight>
                            <a:srgbClr val="FFF3B0"/>
                          </a:highlight>
                          <a:latin typeface="Microsoft YaHei" pitchFamily="34" charset="0"/>
                          <a:ea typeface="Microsoft YaHei"/>
                          <a:cs typeface="Microsoft YaHei" pitchFamily="34" charset="-120"/>
                        </a:rPr>
                        <a:t>一人一个机器人</a:t>
                      </a:r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737373"/>
                          </a:solidFill>
                          <a:latin typeface="Microsoft YaHei" pitchFamily="34" charset="0"/>
                          <a:ea typeface="Microsoft YaHei"/>
                          <a:cs typeface="Microsoft YaHei" pitchFamily="34" charset="-120"/>
                        </a:rPr>
                        <a:t>，各自申请</a:t>
                      </a:r>
                      <a:endParaRPr lang="en-US" sz="1800" dirty="0">
                        <a:latin typeface="Microsoft YaHei" charset="0"/>
                        <a:ea typeface="Microsoft YaHei"/>
                        <a:cs typeface="Microsoft YaHe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F0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D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737373"/>
                          </a:solidFill>
                          <a:latin typeface="Microsoft YaHei" pitchFamily="34" charset="0"/>
                          <a:ea typeface="Microsoft YaHei"/>
                          <a:cs typeface="Microsoft YaHei" pitchFamily="34" charset="-120"/>
                        </a:rPr>
                        <a:t>⑥ “下载-上传”改表会覆盖别人刚改的</a:t>
                      </a:r>
                      <a:endParaRPr lang="en-US" sz="1800" dirty="0">
                        <a:latin typeface="Microsoft YaHei" charset="0"/>
                        <a:ea typeface="Microsoft YaHei"/>
                        <a:cs typeface="Microsoft YaHe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F0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737373"/>
                          </a:solidFill>
                          <a:latin typeface="Microsoft YaHei" pitchFamily="34" charset="0"/>
                          <a:ea typeface="Microsoft YaHei"/>
                          <a:cs typeface="Microsoft YaHei" pitchFamily="34" charset="-120"/>
                        </a:rPr>
                        <a:t>多人共用表禁用；</a:t>
                      </a:r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737373"/>
                          </a:solidFill>
                          <a:highlight>
                            <a:srgbClr val="FFF3B0"/>
                          </a:highlight>
                          <a:latin typeface="Microsoft YaHei" pitchFamily="34" charset="0"/>
                          <a:ea typeface="Microsoft YaHei"/>
                          <a:cs typeface="Microsoft YaHei" pitchFamily="34" charset="-120"/>
                        </a:rPr>
                        <a:t>改动格子加底色</a:t>
                      </a:r>
                      <a:endParaRPr lang="en-US" sz="1800" dirty="0">
                        <a:latin typeface="Microsoft YaHei" charset="0"/>
                        <a:ea typeface="Microsoft YaHei"/>
                        <a:cs typeface="Microsoft YaHe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F0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737373"/>
                          </a:solidFill>
                          <a:latin typeface="Microsoft YaHei" pitchFamily="34" charset="0"/>
                          <a:ea typeface="Microsoft YaHei"/>
                          <a:cs typeface="Microsoft YaHei" pitchFamily="34" charset="-120"/>
                        </a:rPr>
                        <a:t>⑦ 自建表没有“设管理者”入口</a:t>
                      </a:r>
                      <a:endParaRPr lang="en-US" sz="1800" dirty="0">
                        <a:latin typeface="Microsoft YaHei" charset="0"/>
                        <a:ea typeface="Microsoft YaHei"/>
                        <a:cs typeface="Microsoft YaHe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F0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737373"/>
                          </a:solidFill>
                          <a:latin typeface="Microsoft YaHei" pitchFamily="34" charset="0"/>
                          <a:ea typeface="Microsoft YaHei"/>
                          <a:cs typeface="Microsoft YaHei" pitchFamily="34" charset="-120"/>
                        </a:rPr>
                        <a:t>编辑走</a:t>
                      </a:r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737373"/>
                          </a:solidFill>
                          <a:highlight>
                            <a:srgbClr val="FFF3B0"/>
                          </a:highlight>
                          <a:latin typeface="Microsoft YaHei" pitchFamily="34" charset="0"/>
                          <a:ea typeface="Microsoft YaHei"/>
                          <a:cs typeface="Microsoft YaHei" pitchFamily="34" charset="-120"/>
                        </a:rPr>
                        <a:t>“企业内自助加入”</a:t>
                      </a:r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737373"/>
                          </a:solidFill>
                          <a:latin typeface="Microsoft YaHei" pitchFamily="34" charset="0"/>
                          <a:ea typeface="Microsoft YaHei"/>
                          <a:cs typeface="Microsoft YaHei" pitchFamily="34" charset="-120"/>
                        </a:rPr>
                        <a:t>；管理兜底找超管</a:t>
                      </a:r>
                      <a:endParaRPr lang="en-US" sz="1800" dirty="0">
                        <a:latin typeface="Microsoft YaHei" charset="0"/>
                        <a:ea typeface="Microsoft YaHei"/>
                        <a:cs typeface="Microsoft YaHe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F0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D"/>
                    </a:solidFill>
                  </a:tcPr>
                </a:tc>
              </a:tr>
            </a:tbl>
          </a:graphicData>
        </a:graphic>
      </p:graphicFrame>
      <p:sp>
        <p:nvSpPr>
          <p:cNvPr id="12" name="Shape 9"/>
          <p:cNvSpPr/>
          <p:nvPr/>
        </p:nvSpPr>
        <p:spPr>
          <a:xfrm>
            <a:off x="1024128" y="7543800"/>
            <a:ext cx="16239744" cy="868680"/>
          </a:xfrm>
          <a:prstGeom prst="roundRect">
            <a:avLst>
              <a:gd name="adj" fmla="val 8421"/>
            </a:avLst>
          </a:prstGeom>
          <a:solidFill>
            <a:srgbClr val="E8590C">
              <a:alpha val="38000"/>
            </a:srgbClr>
          </a:solidFill>
          <a:ln/>
        </p:spPr>
      </p:sp>
      <p:sp>
        <p:nvSpPr>
          <p:cNvPr id="13" name="Text 10"/>
          <p:cNvSpPr/>
          <p:nvPr/>
        </p:nvSpPr>
        <p:spPr>
          <a:xfrm>
            <a:off x="1298448" y="7543800"/>
            <a:ext cx="157368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191919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前车之鉴（DDD）：把“写旧表”当审批问题，批完依然写不进。</a:t>
            </a:r>
            <a:pPr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191919"/>
                </a:solidFill>
                <a:highlight>
                  <a:srgbClr val="FFF3B0"/>
                </a:highlight>
                <a:latin typeface="Microsoft YaHei" pitchFamily="34" charset="0"/>
                <a:ea typeface="Microsoft YaHei"/>
                <a:cs typeface="Microsoft YaHei" pitchFamily="34" charset="-120"/>
              </a:rPr>
              <a:t>审批只解决“读”；“写”直接转新表方案</a:t>
            </a:r>
            <a:pPr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191919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。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4128" y="1069848"/>
            <a:ext cx="118872" cy="118872"/>
          </a:xfrm>
          <a:prstGeom prst="ellipse">
            <a:avLst/>
          </a:prstGeom>
          <a:solidFill>
            <a:srgbClr val="191919"/>
          </a:solidFill>
          <a:ln/>
        </p:spPr>
      </p:sp>
      <p:sp>
        <p:nvSpPr>
          <p:cNvPr id="3" name="Shape 1"/>
          <p:cNvSpPr/>
          <p:nvPr/>
        </p:nvSpPr>
        <p:spPr>
          <a:xfrm>
            <a:off x="1179576" y="1069848"/>
            <a:ext cx="118872" cy="118872"/>
          </a:xfrm>
          <a:prstGeom prst="ellipse">
            <a:avLst/>
          </a:prstGeom>
          <a:solidFill>
            <a:srgbClr val="FDBA74"/>
          </a:solidFill>
          <a:ln/>
        </p:spPr>
      </p:sp>
      <p:sp>
        <p:nvSpPr>
          <p:cNvPr id="4" name="Shape 2"/>
          <p:cNvSpPr/>
          <p:nvPr/>
        </p:nvSpPr>
        <p:spPr>
          <a:xfrm>
            <a:off x="1101852" y="914400"/>
            <a:ext cx="118872" cy="118872"/>
          </a:xfrm>
          <a:prstGeom prst="ellipse">
            <a:avLst/>
          </a:prstGeom>
          <a:solidFill>
            <a:srgbClr val="E8590C"/>
          </a:solidFill>
          <a:ln/>
        </p:spPr>
      </p:sp>
      <p:sp>
        <p:nvSpPr>
          <p:cNvPr id="5" name="Shape 3"/>
          <p:cNvSpPr/>
          <p:nvPr/>
        </p:nvSpPr>
        <p:spPr>
          <a:xfrm>
            <a:off x="16934688" y="932688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17780">
            <a:solidFill>
              <a:srgbClr val="19191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0" y="786384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spc="400" kern="0" dirty="0">
                <a:solidFill>
                  <a:srgbClr val="737373"/>
                </a:solidFill>
                <a:latin typeface="Consolas" pitchFamily="34" charset="0"/>
                <a:ea typeface="Microsoft YaHei"/>
                <a:cs typeface="Consolas" pitchFamily="34" charset="-120"/>
              </a:rPr>
              <a:t>WECOM-BOT SOP · 提审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5636240" y="9582912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B3A79E"/>
                </a:solidFill>
                <a:latin typeface="Consolas" pitchFamily="34" charset="0"/>
                <a:ea typeface="Microsoft YaHei"/>
                <a:cs typeface="Consolas" pitchFamily="34" charset="-120"/>
              </a:rPr>
              <a:t>07 / 09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7026128" y="9674352"/>
            <a:ext cx="91440" cy="91440"/>
          </a:xfrm>
          <a:prstGeom prst="ellipse">
            <a:avLst/>
          </a:prstGeom>
          <a:solidFill>
            <a:srgbClr val="E8590C"/>
          </a:solidFill>
          <a:ln/>
        </p:spPr>
      </p:sp>
      <p:sp>
        <p:nvSpPr>
          <p:cNvPr id="9" name="Text 7"/>
          <p:cNvSpPr/>
          <p:nvPr/>
        </p:nvSpPr>
        <p:spPr>
          <a:xfrm>
            <a:off x="1024128" y="1499616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spc="300" kern="0" dirty="0">
                <a:solidFill>
                  <a:srgbClr val="737373"/>
                </a:solidFill>
                <a:latin typeface="Consolas" pitchFamily="34" charset="0"/>
                <a:ea typeface="Microsoft YaHei"/>
                <a:cs typeface="Consolas" pitchFamily="34" charset="-120"/>
              </a:rPr>
              <a:t>2.6 · 地板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24128" y="1828800"/>
            <a:ext cx="12801600" cy="795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91919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必须走的流程：企微自带四步，没有商量</a:t>
            </a:r>
            <a:endParaRPr lang="en-US" sz="4000" dirty="0"/>
          </a:p>
        </p:txBody>
      </p:sp>
      <p:sp>
        <p:nvSpPr>
          <p:cNvPr id="11" name="Shape 9"/>
          <p:cNvSpPr/>
          <p:nvPr/>
        </p:nvSpPr>
        <p:spPr>
          <a:xfrm>
            <a:off x="1024128" y="3108960"/>
            <a:ext cx="3991356" cy="1005840"/>
          </a:xfrm>
          <a:prstGeom prst="homePlate">
            <a:avLst/>
          </a:prstGeom>
          <a:solidFill>
            <a:srgbClr val="FDBA7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33856" y="3108960"/>
            <a:ext cx="371703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91919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①  管理员创建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133856" y="4206240"/>
            <a:ext cx="37719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737373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业务同事建不了，没有第二条路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5106924" y="3108960"/>
            <a:ext cx="3991356" cy="1005840"/>
          </a:xfrm>
          <a:prstGeom prst="chevron">
            <a:avLst/>
          </a:prstGeom>
          <a:solidFill>
            <a:srgbClr val="FDBA7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81244" y="3108960"/>
            <a:ext cx="35524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91919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②  两轮发布审批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5216652" y="4206240"/>
            <a:ext cx="37719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737373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上级 + 管理员；上级要选对人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9189720" y="3108960"/>
            <a:ext cx="3991356" cy="1005840"/>
          </a:xfrm>
          <a:prstGeom prst="chevron">
            <a:avLst/>
          </a:prstGeom>
          <a:solidFill>
            <a:srgbClr val="FDBA7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464040" y="3108960"/>
            <a:ext cx="35524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91919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③  本人扫码授权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9299448" y="4206240"/>
            <a:ext cx="37719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737373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读谁的文档谁扫，不代办不批量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13272516" y="3108960"/>
            <a:ext cx="3991356" cy="1005840"/>
          </a:xfrm>
          <a:prstGeom prst="chevron">
            <a:avLst/>
          </a:prstGeom>
          <a:solidFill>
            <a:srgbClr val="E8590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3546836" y="3108960"/>
            <a:ext cx="35524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91919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④  发文档链接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3382244" y="4206240"/>
            <a:ext cx="37719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737373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大企业每个文档发一次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1024128" y="5669280"/>
            <a:ext cx="16239744" cy="960120"/>
          </a:xfrm>
          <a:prstGeom prst="roundRect">
            <a:avLst>
              <a:gd name="adj" fmla="val 7619"/>
            </a:avLst>
          </a:prstGeom>
          <a:solidFill>
            <a:srgbClr val="FBF7F2">
              <a:alpha val="75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1298448" y="5669280"/>
            <a:ext cx="1573682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191919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不走完会怎样：机器人用不了；</a:t>
            </a:r>
            <a:pPr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191919"/>
                </a:solidFill>
                <a:highlight>
                  <a:srgbClr val="FFF3B0"/>
                </a:highlight>
                <a:latin typeface="Microsoft YaHei" pitchFamily="34" charset="0"/>
                <a:ea typeface="Microsoft YaHei"/>
                <a:cs typeface="Microsoft YaHei" pitchFamily="34" charset="-120"/>
              </a:rPr>
              <a:t>少走一步 = “批了权限还是用不了”</a:t>
            </a:r>
            <a:pPr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191919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。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1024128" y="6949440"/>
            <a:ext cx="5205984" cy="1554480"/>
          </a:xfrm>
          <a:prstGeom prst="roundRect">
            <a:avLst>
              <a:gd name="adj" fmla="val 4706"/>
            </a:avLst>
          </a:prstGeom>
          <a:solidFill>
            <a:srgbClr val="FBF7F2"/>
          </a:solidFill>
          <a:ln/>
          <a:effectLst>
            <a:outerShdw sx="100000" sy="100000" kx="0" ky="0" algn="bl" rotWithShape="0" blurRad="88900" dist="25400" dir="5400000">
              <a:srgbClr val="111827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1170432" y="7040880"/>
            <a:ext cx="49316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5B98A"/>
                </a:solidFill>
                <a:latin typeface="Arial Black" pitchFamily="34" charset="0"/>
                <a:ea typeface="Microsoft YaHei"/>
                <a:cs typeface="Arial Black" pitchFamily="34" charset="-120"/>
              </a:rPr>
              <a:t>01</a:t>
            </a:r>
            <a:endParaRPr lang="en-US" sz="3200" dirty="0"/>
          </a:p>
        </p:txBody>
      </p:sp>
      <p:sp>
        <p:nvSpPr>
          <p:cNvPr id="27" name="Text 25"/>
          <p:cNvSpPr/>
          <p:nvPr/>
        </p:nvSpPr>
        <p:spPr>
          <a:xfrm>
            <a:off x="1170432" y="7552944"/>
            <a:ext cx="4931664" cy="377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191919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红线逼出的必然做法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1170432" y="8028432"/>
            <a:ext cx="4931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737373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新增数据进新表 · 旧表挂索引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6175248" y="7507224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3A79E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→</a:t>
            </a:r>
            <a:endParaRPr lang="en-US" sz="2000" dirty="0"/>
          </a:p>
        </p:txBody>
      </p:sp>
      <p:sp>
        <p:nvSpPr>
          <p:cNvPr id="30" name="Shape 28"/>
          <p:cNvSpPr/>
          <p:nvPr/>
        </p:nvSpPr>
        <p:spPr>
          <a:xfrm>
            <a:off x="6541008" y="6949440"/>
            <a:ext cx="5205984" cy="1554480"/>
          </a:xfrm>
          <a:prstGeom prst="roundRect">
            <a:avLst>
              <a:gd name="adj" fmla="val 4706"/>
            </a:avLst>
          </a:prstGeom>
          <a:solidFill>
            <a:srgbClr val="FBF7F2"/>
          </a:solidFill>
          <a:ln/>
          <a:effectLst>
            <a:outerShdw sx="100000" sy="100000" kx="0" ky="0" algn="bl" rotWithShape="0" blurRad="88900" dist="25400" dir="5400000">
              <a:srgbClr val="111827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687312" y="7040880"/>
            <a:ext cx="49316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5B98A"/>
                </a:solidFill>
                <a:latin typeface="Arial Black" pitchFamily="34" charset="0"/>
                <a:ea typeface="Microsoft YaHei"/>
                <a:cs typeface="Arial Black" pitchFamily="34" charset="-120"/>
              </a:rPr>
              <a:t>02</a:t>
            </a:r>
            <a:endParaRPr lang="en-US" sz="3200" dirty="0"/>
          </a:p>
        </p:txBody>
      </p:sp>
      <p:sp>
        <p:nvSpPr>
          <p:cNvPr id="32" name="Text 30"/>
          <p:cNvSpPr/>
          <p:nvPr/>
        </p:nvSpPr>
        <p:spPr>
          <a:xfrm>
            <a:off x="6687312" y="7552944"/>
            <a:ext cx="4931664" cy="377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191919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谁用谁建</a:t>
            </a:r>
            <a:endParaRPr lang="en-US" sz="2400" dirty="0"/>
          </a:p>
        </p:txBody>
      </p:sp>
      <p:sp>
        <p:nvSpPr>
          <p:cNvPr id="33" name="Text 31"/>
          <p:cNvSpPr/>
          <p:nvPr/>
        </p:nvSpPr>
        <p:spPr>
          <a:xfrm>
            <a:off x="6687312" y="8028432"/>
            <a:ext cx="4931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737373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一人一个机器人，权限不跟人走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11692128" y="7507224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3A79E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→</a:t>
            </a:r>
            <a:endParaRPr lang="en-US" sz="2000" dirty="0"/>
          </a:p>
        </p:txBody>
      </p:sp>
      <p:sp>
        <p:nvSpPr>
          <p:cNvPr id="35" name="Shape 33"/>
          <p:cNvSpPr/>
          <p:nvPr/>
        </p:nvSpPr>
        <p:spPr>
          <a:xfrm>
            <a:off x="12057888" y="6949440"/>
            <a:ext cx="5205984" cy="1554480"/>
          </a:xfrm>
          <a:prstGeom prst="roundRect">
            <a:avLst>
              <a:gd name="adj" fmla="val 4706"/>
            </a:avLst>
          </a:prstGeom>
          <a:solidFill>
            <a:srgbClr val="FBF7F2"/>
          </a:solidFill>
          <a:ln/>
          <a:effectLst>
            <a:outerShdw sx="100000" sy="100000" kx="0" ky="0" algn="bl" rotWithShape="0" blurRad="88900" dist="25400" dir="5400000">
              <a:srgbClr val="111827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12204192" y="7040880"/>
            <a:ext cx="49316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E8590C"/>
                </a:solidFill>
                <a:latin typeface="Arial Black" pitchFamily="34" charset="0"/>
                <a:ea typeface="Microsoft YaHei"/>
                <a:cs typeface="Arial Black" pitchFamily="34" charset="-120"/>
              </a:rPr>
              <a:t>03</a:t>
            </a:r>
            <a:endParaRPr lang="en-US" sz="3200" dirty="0"/>
          </a:p>
        </p:txBody>
      </p:sp>
      <p:sp>
        <p:nvSpPr>
          <p:cNvPr id="37" name="Text 35"/>
          <p:cNvSpPr/>
          <p:nvPr/>
        </p:nvSpPr>
        <p:spPr>
          <a:xfrm>
            <a:off x="12204192" y="7552944"/>
            <a:ext cx="4931664" cy="377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191919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换负责人</a:t>
            </a:r>
            <a:endParaRPr lang="en-US" sz="2400" dirty="0"/>
          </a:p>
        </p:txBody>
      </p:sp>
      <p:sp>
        <p:nvSpPr>
          <p:cNvPr id="38" name="Text 36"/>
          <p:cNvSpPr/>
          <p:nvPr/>
        </p:nvSpPr>
        <p:spPr>
          <a:xfrm>
            <a:off x="12204192" y="8028432"/>
            <a:ext cx="4931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737373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重新扫码 + 重发链接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4128" y="1069848"/>
            <a:ext cx="118872" cy="118872"/>
          </a:xfrm>
          <a:prstGeom prst="ellipse">
            <a:avLst/>
          </a:prstGeom>
          <a:solidFill>
            <a:srgbClr val="191919"/>
          </a:solidFill>
          <a:ln/>
        </p:spPr>
      </p:sp>
      <p:sp>
        <p:nvSpPr>
          <p:cNvPr id="3" name="Shape 1"/>
          <p:cNvSpPr/>
          <p:nvPr/>
        </p:nvSpPr>
        <p:spPr>
          <a:xfrm>
            <a:off x="1179576" y="1069848"/>
            <a:ext cx="118872" cy="118872"/>
          </a:xfrm>
          <a:prstGeom prst="ellipse">
            <a:avLst/>
          </a:prstGeom>
          <a:solidFill>
            <a:srgbClr val="FDBA74"/>
          </a:solidFill>
          <a:ln/>
        </p:spPr>
      </p:sp>
      <p:sp>
        <p:nvSpPr>
          <p:cNvPr id="4" name="Shape 2"/>
          <p:cNvSpPr/>
          <p:nvPr/>
        </p:nvSpPr>
        <p:spPr>
          <a:xfrm>
            <a:off x="1101852" y="914400"/>
            <a:ext cx="118872" cy="118872"/>
          </a:xfrm>
          <a:prstGeom prst="ellipse">
            <a:avLst/>
          </a:prstGeom>
          <a:solidFill>
            <a:srgbClr val="E8590C"/>
          </a:solidFill>
          <a:ln/>
        </p:spPr>
      </p:sp>
      <p:sp>
        <p:nvSpPr>
          <p:cNvPr id="5" name="Shape 3"/>
          <p:cNvSpPr/>
          <p:nvPr/>
        </p:nvSpPr>
        <p:spPr>
          <a:xfrm>
            <a:off x="16934688" y="932688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17780">
            <a:solidFill>
              <a:srgbClr val="19191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0" y="786384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spc="400" kern="0" dirty="0">
                <a:solidFill>
                  <a:srgbClr val="737373"/>
                </a:solidFill>
                <a:latin typeface="Consolas" pitchFamily="34" charset="0"/>
                <a:ea typeface="Microsoft YaHei"/>
                <a:cs typeface="Consolas" pitchFamily="34" charset="-120"/>
              </a:rPr>
              <a:t>WECOM-BOT SOP · 提审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5636240" y="9582912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B3A79E"/>
                </a:solidFill>
                <a:latin typeface="Consolas" pitchFamily="34" charset="0"/>
                <a:ea typeface="Microsoft YaHei"/>
                <a:cs typeface="Consolas" pitchFamily="34" charset="-120"/>
              </a:rPr>
              <a:t>08 / 09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7026128" y="9674352"/>
            <a:ext cx="91440" cy="91440"/>
          </a:xfrm>
          <a:prstGeom prst="ellipse">
            <a:avLst/>
          </a:prstGeom>
          <a:solidFill>
            <a:srgbClr val="E8590C"/>
          </a:solidFill>
          <a:ln/>
        </p:spPr>
      </p:sp>
      <p:sp>
        <p:nvSpPr>
          <p:cNvPr id="9" name="Text 7"/>
          <p:cNvSpPr/>
          <p:nvPr/>
        </p:nvSpPr>
        <p:spPr>
          <a:xfrm>
            <a:off x="1024128" y="1499616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spc="300" kern="0" dirty="0">
                <a:solidFill>
                  <a:srgbClr val="737373"/>
                </a:solidFill>
                <a:latin typeface="Consolas" pitchFamily="34" charset="0"/>
                <a:ea typeface="Microsoft YaHei"/>
                <a:cs typeface="Consolas" pitchFamily="34" charset="-120"/>
              </a:rPr>
              <a:t>2.7 · 必然做法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24128" y="1828800"/>
            <a:ext cx="12801600" cy="795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91919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红线逼出来的六个必然做法</a:t>
            </a:r>
            <a:endParaRPr lang="en-US" sz="4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24128" y="2880360"/>
          <a:ext cx="16239744" cy="914400"/>
        </p:xfrm>
        <a:graphic>
          <a:graphicData uri="http://schemas.openxmlformats.org/drawingml/2006/table">
            <a:tbl>
              <a:tblPr/>
              <a:tblGrid>
                <a:gridCol w="7498080"/>
                <a:gridCol w="8741664"/>
              </a:tblGrid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91919"/>
                          </a:solidFill>
                          <a:latin typeface="Microsoft YaHei" pitchFamily="34" charset="0"/>
                          <a:ea typeface="Microsoft YaHei"/>
                          <a:cs typeface="Microsoft YaHei" pitchFamily="34" charset="-120"/>
                        </a:rPr>
                        <a:t>平台红线</a:t>
                      </a:r>
                      <a:endParaRPr lang="en-US" sz="1800" dirty="0">
                        <a:latin typeface="Microsoft YaHei" charset="0"/>
                        <a:ea typeface="Microsoft YaHei"/>
                        <a:cs typeface="Microsoft YaHe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F0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BA7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91919"/>
                          </a:solidFill>
                          <a:latin typeface="Microsoft YaHei" pitchFamily="34" charset="0"/>
                          <a:ea typeface="Microsoft YaHei"/>
                          <a:cs typeface="Microsoft YaHei" pitchFamily="34" charset="-120"/>
                        </a:rPr>
                        <a:t>引申出的必然做法</a:t>
                      </a:r>
                      <a:endParaRPr lang="en-US" sz="1800" dirty="0">
                        <a:latin typeface="Microsoft YaHei" charset="0"/>
                        <a:ea typeface="Microsoft YaHei"/>
                        <a:cs typeface="Microsoft YaHe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F0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BA74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737373"/>
                          </a:solidFill>
                          <a:latin typeface="Microsoft YaHei" pitchFamily="34" charset="0"/>
                          <a:ea typeface="Microsoft YaHei"/>
                          <a:cs typeface="Microsoft YaHei" pitchFamily="34" charset="-120"/>
                        </a:rPr>
                        <a:t>写不了员工建的旧表</a:t>
                      </a:r>
                      <a:endParaRPr lang="en-US" sz="1800" dirty="0">
                        <a:latin typeface="Microsoft YaHei" charset="0"/>
                        <a:ea typeface="Microsoft YaHei"/>
                        <a:cs typeface="Microsoft YaHe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F0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737373"/>
                          </a:solidFill>
                          <a:highlight>
                            <a:srgbClr val="FFF3B0"/>
                          </a:highlight>
                          <a:latin typeface="Microsoft YaHei" pitchFamily="34" charset="0"/>
                          <a:ea typeface="Microsoft YaHei"/>
                          <a:cs typeface="Microsoft YaHei" pitchFamily="34" charset="-120"/>
                        </a:rPr>
                        <a:t>新增数据必须进机器人自建新表</a:t>
                      </a:r>
                      <a:endParaRPr lang="en-US" sz="1800" dirty="0">
                        <a:latin typeface="Microsoft YaHei" charset="0"/>
                        <a:ea typeface="Microsoft YaHei"/>
                        <a:cs typeface="Microsoft YaHe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F0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D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737373"/>
                          </a:solidFill>
                          <a:latin typeface="Microsoft YaHei" pitchFamily="34" charset="0"/>
                          <a:ea typeface="Microsoft YaHei"/>
                          <a:cs typeface="Microsoft YaHei" pitchFamily="34" charset="-120"/>
                        </a:rPr>
                        <a:t>新旧表并存会出“两个真相”</a:t>
                      </a:r>
                      <a:endParaRPr lang="en-US" sz="1800" dirty="0">
                        <a:latin typeface="Microsoft YaHei" charset="0"/>
                        <a:ea typeface="Microsoft YaHei"/>
                        <a:cs typeface="Microsoft YaHe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F0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737373"/>
                          </a:solidFill>
                          <a:highlight>
                            <a:srgbClr val="FFF3B0"/>
                          </a:highlight>
                          <a:latin typeface="Microsoft YaHei" pitchFamily="34" charset="0"/>
                          <a:ea typeface="Microsoft YaHei"/>
                          <a:cs typeface="Microsoft YaHei" pitchFamily="34" charset="-120"/>
                        </a:rPr>
                        <a:t>旧表挂索引</a:t>
                      </a:r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737373"/>
                          </a:solidFill>
                          <a:latin typeface="Microsoft YaHei" pitchFamily="34" charset="0"/>
                          <a:ea typeface="Microsoft YaHei"/>
                          <a:cs typeface="Microsoft YaHei" pitchFamily="34" charset="-120"/>
                        </a:rPr>
                        <a:t> + 白纸黑字定哪个表算数、何时切换</a:t>
                      </a:r>
                      <a:endParaRPr lang="en-US" sz="1800" dirty="0">
                        <a:latin typeface="Microsoft YaHei" charset="0"/>
                        <a:ea typeface="Microsoft YaHei"/>
                        <a:cs typeface="Microsoft YaHe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F0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737373"/>
                          </a:solidFill>
                          <a:latin typeface="Microsoft YaHei" pitchFamily="34" charset="0"/>
                          <a:ea typeface="Microsoft YaHei"/>
                          <a:cs typeface="Microsoft YaHei" pitchFamily="34" charset="-120"/>
                        </a:rPr>
                        <a:t>机器人只有创建者本人能用</a:t>
                      </a:r>
                      <a:endParaRPr lang="en-US" sz="1800" dirty="0">
                        <a:latin typeface="Microsoft YaHei" charset="0"/>
                        <a:ea typeface="Microsoft YaHei"/>
                        <a:cs typeface="Microsoft YaHe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F0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737373"/>
                          </a:solidFill>
                          <a:highlight>
                            <a:srgbClr val="FFF3B0"/>
                          </a:highlight>
                          <a:latin typeface="Microsoft YaHei" pitchFamily="34" charset="0"/>
                          <a:ea typeface="Microsoft YaHei"/>
                          <a:cs typeface="Microsoft YaHei" pitchFamily="34" charset="-120"/>
                        </a:rPr>
                        <a:t>谁用谁建、一人一个</a:t>
                      </a:r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737373"/>
                          </a:solidFill>
                          <a:latin typeface="Microsoft YaHei" pitchFamily="34" charset="0"/>
                          <a:ea typeface="Microsoft YaHei"/>
                          <a:cs typeface="Microsoft YaHei" pitchFamily="34" charset="-120"/>
                        </a:rPr>
                        <a:t>，团队共用行不通</a:t>
                      </a:r>
                      <a:endParaRPr lang="en-US" sz="1800" dirty="0">
                        <a:latin typeface="Microsoft YaHei" charset="0"/>
                        <a:ea typeface="Microsoft YaHei"/>
                        <a:cs typeface="Microsoft YaHe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F0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D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737373"/>
                          </a:solidFill>
                          <a:latin typeface="Microsoft YaHei" pitchFamily="34" charset="0"/>
                          <a:ea typeface="Microsoft YaHei"/>
                          <a:cs typeface="Microsoft YaHei" pitchFamily="34" charset="-120"/>
                        </a:rPr>
                        <a:t>权限不跟人走</a:t>
                      </a:r>
                      <a:endParaRPr lang="en-US" sz="1800" dirty="0">
                        <a:latin typeface="Microsoft YaHei" charset="0"/>
                        <a:ea typeface="Microsoft YaHei"/>
                        <a:cs typeface="Microsoft YaHe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F0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737373"/>
                          </a:solidFill>
                          <a:highlight>
                            <a:srgbClr val="FFF3B0"/>
                          </a:highlight>
                          <a:latin typeface="Microsoft YaHei" pitchFamily="34" charset="0"/>
                          <a:ea typeface="Microsoft YaHei"/>
                          <a:cs typeface="Microsoft YaHei" pitchFamily="34" charset="-120"/>
                        </a:rPr>
                        <a:t>换负责人重新扫码 + 重发链接</a:t>
                      </a:r>
                      <a:endParaRPr lang="en-US" sz="1800" dirty="0">
                        <a:latin typeface="Microsoft YaHei" charset="0"/>
                        <a:ea typeface="Microsoft YaHei"/>
                        <a:cs typeface="Microsoft YaHe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F0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737373"/>
                          </a:solidFill>
                          <a:latin typeface="Microsoft YaHei" pitchFamily="34" charset="0"/>
                          <a:ea typeface="Microsoft YaHei"/>
                          <a:cs typeface="Microsoft YaHei" pitchFamily="34" charset="-120"/>
                        </a:rPr>
                        <a:t>“下载-上传”会覆盖别人的修改</a:t>
                      </a:r>
                      <a:endParaRPr lang="en-US" sz="1800" dirty="0">
                        <a:latin typeface="Microsoft YaHei" charset="0"/>
                        <a:ea typeface="Microsoft YaHei"/>
                        <a:cs typeface="Microsoft YaHe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F0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737373"/>
                          </a:solidFill>
                          <a:latin typeface="Microsoft YaHei" pitchFamily="34" charset="0"/>
                          <a:ea typeface="Microsoft YaHei"/>
                          <a:cs typeface="Microsoft YaHei" pitchFamily="34" charset="-120"/>
                        </a:rPr>
                        <a:t>多人共用表</a:t>
                      </a:r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737373"/>
                          </a:solidFill>
                          <a:highlight>
                            <a:srgbClr val="FFF3B0"/>
                          </a:highlight>
                          <a:latin typeface="Microsoft YaHei" pitchFamily="34" charset="0"/>
                          <a:ea typeface="Microsoft YaHei"/>
                          <a:cs typeface="Microsoft YaHei" pitchFamily="34" charset="-120"/>
                        </a:rPr>
                        <a:t>禁用此方式</a:t>
                      </a:r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737373"/>
                          </a:solidFill>
                          <a:latin typeface="Microsoft YaHei" pitchFamily="34" charset="0"/>
                          <a:ea typeface="Microsoft YaHei"/>
                          <a:cs typeface="Microsoft YaHei" pitchFamily="34" charset="-120"/>
                        </a:rPr>
                        <a:t>；改动格子加底色</a:t>
                      </a:r>
                      <a:endParaRPr lang="en-US" sz="1800" dirty="0">
                        <a:latin typeface="Microsoft YaHei" charset="0"/>
                        <a:ea typeface="Microsoft YaHei"/>
                        <a:cs typeface="Microsoft YaHe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F0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D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737373"/>
                          </a:solidFill>
                          <a:latin typeface="Microsoft YaHei" pitchFamily="34" charset="0"/>
                          <a:ea typeface="Microsoft YaHei"/>
                          <a:cs typeface="Microsoft YaHei" pitchFamily="34" charset="-120"/>
                        </a:rPr>
                        <a:t>自建表没有“设管理者”入口</a:t>
                      </a:r>
                      <a:endParaRPr lang="en-US" sz="1800" dirty="0">
                        <a:latin typeface="Microsoft YaHei" charset="0"/>
                        <a:ea typeface="Microsoft YaHei"/>
                        <a:cs typeface="Microsoft YaHe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F0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737373"/>
                          </a:solidFill>
                          <a:latin typeface="Microsoft YaHei" pitchFamily="34" charset="0"/>
                          <a:ea typeface="Microsoft YaHei"/>
                          <a:cs typeface="Microsoft YaHei" pitchFamily="34" charset="-120"/>
                        </a:rPr>
                        <a:t>管理员=机器人+搭建者；编辑走</a:t>
                      </a:r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737373"/>
                          </a:solidFill>
                          <a:highlight>
                            <a:srgbClr val="FFF3B0"/>
                          </a:highlight>
                          <a:latin typeface="Microsoft YaHei" pitchFamily="34" charset="0"/>
                          <a:ea typeface="Microsoft YaHei"/>
                          <a:cs typeface="Microsoft YaHei" pitchFamily="34" charset="-120"/>
                        </a:rPr>
                        <a:t>自助加入</a:t>
                      </a:r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737373"/>
                          </a:solidFill>
                          <a:latin typeface="Microsoft YaHei" pitchFamily="34" charset="0"/>
                          <a:ea typeface="Microsoft YaHei"/>
                          <a:cs typeface="Microsoft YaHei" pitchFamily="34" charset="-120"/>
                        </a:rPr>
                        <a:t>，管理兜底找超管</a:t>
                      </a:r>
                      <a:endParaRPr lang="en-US" sz="1800" dirty="0">
                        <a:latin typeface="Microsoft YaHei" charset="0"/>
                        <a:ea typeface="Microsoft YaHei"/>
                        <a:cs typeface="Microsoft YaHe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F0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Shape 9"/>
          <p:cNvSpPr/>
          <p:nvPr/>
        </p:nvSpPr>
        <p:spPr>
          <a:xfrm>
            <a:off x="1024128" y="7223760"/>
            <a:ext cx="16239744" cy="960120"/>
          </a:xfrm>
          <a:prstGeom prst="roundRect">
            <a:avLst>
              <a:gd name="adj" fmla="val 7619"/>
            </a:avLst>
          </a:prstGeom>
          <a:solidFill>
            <a:srgbClr val="FDBA74">
              <a:alpha val="55000"/>
            </a:srgbClr>
          </a:solidFill>
          <a:ln/>
        </p:spPr>
      </p:sp>
      <p:sp>
        <p:nvSpPr>
          <p:cNvPr id="13" name="Text 10"/>
          <p:cNvSpPr/>
          <p:nvPr/>
        </p:nvSpPr>
        <p:spPr>
          <a:xfrm>
            <a:off x="1298448" y="7223760"/>
            <a:ext cx="1573682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191919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一句话记住：</a:t>
            </a:r>
            <a:pPr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191919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四步 + 六做法是</a:t>
            </a:r>
            <a:pPr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191919"/>
                </a:solidFill>
                <a:highlight>
                  <a:srgbClr val="FFF3B0"/>
                </a:highlight>
                <a:latin typeface="Microsoft YaHei" pitchFamily="34" charset="0"/>
                <a:ea typeface="Microsoft YaHei"/>
                <a:cs typeface="Microsoft YaHei" pitchFamily="34" charset="-120"/>
              </a:rPr>
              <a:t>地板不是天花板</a:t>
            </a:r>
            <a:pPr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191919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——地板之上的管理设计是我们自己的提议（第 5 章）。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4128" y="1069848"/>
            <a:ext cx="118872" cy="118872"/>
          </a:xfrm>
          <a:prstGeom prst="ellipse">
            <a:avLst/>
          </a:prstGeom>
          <a:solidFill>
            <a:srgbClr val="191919"/>
          </a:solidFill>
          <a:ln/>
        </p:spPr>
      </p:sp>
      <p:sp>
        <p:nvSpPr>
          <p:cNvPr id="3" name="Shape 1"/>
          <p:cNvSpPr/>
          <p:nvPr/>
        </p:nvSpPr>
        <p:spPr>
          <a:xfrm>
            <a:off x="1179576" y="1069848"/>
            <a:ext cx="118872" cy="118872"/>
          </a:xfrm>
          <a:prstGeom prst="ellipse">
            <a:avLst/>
          </a:prstGeom>
          <a:solidFill>
            <a:srgbClr val="FDBA74"/>
          </a:solidFill>
          <a:ln/>
        </p:spPr>
      </p:sp>
      <p:sp>
        <p:nvSpPr>
          <p:cNvPr id="4" name="Shape 2"/>
          <p:cNvSpPr/>
          <p:nvPr/>
        </p:nvSpPr>
        <p:spPr>
          <a:xfrm>
            <a:off x="1101852" y="914400"/>
            <a:ext cx="118872" cy="118872"/>
          </a:xfrm>
          <a:prstGeom prst="ellipse">
            <a:avLst/>
          </a:prstGeom>
          <a:solidFill>
            <a:srgbClr val="E8590C"/>
          </a:solidFill>
          <a:ln/>
        </p:spPr>
      </p:sp>
      <p:sp>
        <p:nvSpPr>
          <p:cNvPr id="5" name="Shape 3"/>
          <p:cNvSpPr/>
          <p:nvPr/>
        </p:nvSpPr>
        <p:spPr>
          <a:xfrm>
            <a:off x="16934688" y="932688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17780">
            <a:solidFill>
              <a:srgbClr val="19191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0" y="786384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spc="400" kern="0" dirty="0">
                <a:solidFill>
                  <a:srgbClr val="737373"/>
                </a:solidFill>
                <a:latin typeface="Consolas" pitchFamily="34" charset="0"/>
                <a:ea typeface="Microsoft YaHei"/>
                <a:cs typeface="Consolas" pitchFamily="34" charset="-120"/>
              </a:rPr>
              <a:t>WECOM-BOT SOP · 提审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5636240" y="9582912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B3A79E"/>
                </a:solidFill>
                <a:latin typeface="Consolas" pitchFamily="34" charset="0"/>
                <a:ea typeface="Microsoft YaHei"/>
                <a:cs typeface="Consolas" pitchFamily="34" charset="-120"/>
              </a:rPr>
              <a:t>09 / 09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7026128" y="9674352"/>
            <a:ext cx="91440" cy="91440"/>
          </a:xfrm>
          <a:prstGeom prst="ellipse">
            <a:avLst/>
          </a:prstGeom>
          <a:solidFill>
            <a:srgbClr val="E8590C"/>
          </a:solidFill>
          <a:ln/>
        </p:spPr>
      </p:sp>
      <p:sp>
        <p:nvSpPr>
          <p:cNvPr id="9" name="Text 7"/>
          <p:cNvSpPr/>
          <p:nvPr/>
        </p:nvSpPr>
        <p:spPr>
          <a:xfrm>
            <a:off x="1024128" y="1499616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spc="300" kern="0" dirty="0">
                <a:solidFill>
                  <a:srgbClr val="737373"/>
                </a:solidFill>
                <a:latin typeface="Consolas" pitchFamily="34" charset="0"/>
                <a:ea typeface="Microsoft YaHei"/>
                <a:cs typeface="Consolas" pitchFamily="34" charset="-120"/>
              </a:rPr>
              <a:t>一句话总结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1024128" y="2377440"/>
            <a:ext cx="548640" cy="548640"/>
          </a:xfrm>
          <a:prstGeom prst="ellipse">
            <a:avLst/>
          </a:prstGeom>
          <a:solidFill>
            <a:srgbClr val="E8590C"/>
          </a:solidFill>
          <a:ln/>
        </p:spPr>
      </p:sp>
      <p:sp>
        <p:nvSpPr>
          <p:cNvPr id="11" name="Text 9"/>
          <p:cNvSpPr/>
          <p:nvPr/>
        </p:nvSpPr>
        <p:spPr>
          <a:xfrm>
            <a:off x="1024128" y="234086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91919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“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1892808" y="2212848"/>
            <a:ext cx="106070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3200" b="1" dirty="0">
                <a:solidFill>
                  <a:srgbClr val="191919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审批只解决“读”的授权；“写”的诉求直接转新表方案。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1892808" y="4846320"/>
            <a:ext cx="10241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2100" dirty="0">
                <a:solidFill>
                  <a:srgbClr val="737373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两轮审批</a:t>
            </a:r>
            <a:pPr indent="0" marL="0">
              <a:lnSpc>
                <a:spcPct val="135000"/>
              </a:lnSpc>
              <a:buNone/>
            </a:pPr>
            <a:r>
              <a:rPr lang="en-US" sz="2100" dirty="0">
                <a:solidFill>
                  <a:srgbClr val="737373"/>
                </a:solidFill>
                <a:highlight>
                  <a:srgbClr val="FFF3B0"/>
                </a:highlight>
                <a:latin typeface="Microsoft YaHei" pitchFamily="34" charset="0"/>
                <a:ea typeface="Microsoft YaHei"/>
                <a:cs typeface="Microsoft YaHei" pitchFamily="34" charset="-120"/>
              </a:rPr>
              <a:t>选对直属上级</a:t>
            </a:r>
            <a:pPr indent="0" marL="0">
              <a:lnSpc>
                <a:spcPct val="135000"/>
              </a:lnSpc>
              <a:buNone/>
            </a:pPr>
            <a:r>
              <a:rPr lang="en-US" sz="2100" dirty="0">
                <a:solidFill>
                  <a:srgbClr val="737373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，申请原因</a:t>
            </a:r>
            <a:pPr indent="0" marL="0">
              <a:lnSpc>
                <a:spcPct val="135000"/>
              </a:lnSpc>
              <a:buNone/>
            </a:pPr>
            <a:r>
              <a:rPr lang="en-US" sz="2100" dirty="0">
                <a:solidFill>
                  <a:srgbClr val="737373"/>
                </a:solidFill>
                <a:highlight>
                  <a:srgbClr val="FFF3B0"/>
                </a:highlight>
                <a:latin typeface="Microsoft YaHei" pitchFamily="34" charset="0"/>
                <a:ea typeface="Microsoft YaHei"/>
                <a:cs typeface="Microsoft YaHei" pitchFamily="34" charset="-120"/>
              </a:rPr>
              <a:t>一句话三带</a:t>
            </a:r>
            <a:pPr indent="0" marL="0">
              <a:lnSpc>
                <a:spcPct val="135000"/>
              </a:lnSpc>
              <a:buNone/>
            </a:pPr>
            <a:r>
              <a:rPr lang="en-US" sz="2100" dirty="0">
                <a:solidFill>
                  <a:srgbClr val="737373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；授权三步走完</a:t>
            </a:r>
            <a:pPr indent="0" marL="0">
              <a:lnSpc>
                <a:spcPct val="135000"/>
              </a:lnSpc>
              <a:buNone/>
            </a:pPr>
            <a:r>
              <a:rPr lang="en-US" sz="2100" dirty="0">
                <a:solidFill>
                  <a:srgbClr val="737373"/>
                </a:solidFill>
                <a:highlight>
                  <a:srgbClr val="FFF3B0"/>
                </a:highlight>
                <a:latin typeface="Microsoft YaHei" pitchFamily="34" charset="0"/>
                <a:ea typeface="Microsoft YaHei"/>
                <a:cs typeface="Microsoft YaHei" pitchFamily="34" charset="-120"/>
              </a:rPr>
              <a:t>长期有效</a:t>
            </a:r>
            <a:pPr indent="0" marL="0">
              <a:lnSpc>
                <a:spcPct val="135000"/>
              </a:lnSpc>
              <a:buNone/>
            </a:pPr>
            <a:r>
              <a:rPr lang="en-US" sz="2100" dirty="0">
                <a:solidFill>
                  <a:srgbClr val="737373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。</a:t>
            </a:r>
            <a:endParaRPr lang="en-US" sz="2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2100" dirty="0">
                <a:solidFill>
                  <a:srgbClr val="737373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红线是平台固定行为，</a:t>
            </a:r>
            <a:endParaRPr lang="en-US" sz="2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2100" dirty="0">
                <a:solidFill>
                  <a:srgbClr val="737373"/>
                </a:solidFill>
                <a:highlight>
                  <a:srgbClr val="FFF3B0"/>
                </a:highlight>
                <a:latin typeface="Microsoft YaHei" pitchFamily="34" charset="0"/>
                <a:ea typeface="Microsoft YaHei"/>
                <a:cs typeface="Microsoft YaHei" pitchFamily="34" charset="-120"/>
              </a:rPr>
              <a:t>审批无法解锁</a:t>
            </a:r>
            <a:pPr indent="0" marL="0">
              <a:lnSpc>
                <a:spcPct val="135000"/>
              </a:lnSpc>
              <a:buNone/>
            </a:pPr>
            <a:r>
              <a:rPr lang="en-US" sz="2100" dirty="0">
                <a:solidFill>
                  <a:srgbClr val="737373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——对照红线表，别在审批里空转。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1892808" y="6583680"/>
            <a:ext cx="2060448" cy="873604"/>
          </a:xfrm>
          <a:prstGeom prst="roundRect">
            <a:avLst>
              <a:gd name="adj" fmla="val 50000"/>
            </a:avLst>
          </a:prstGeom>
          <a:solidFill>
            <a:srgbClr val="FDBA74"/>
          </a:solidFill>
          <a:ln/>
        </p:spPr>
      </p:sp>
      <p:sp>
        <p:nvSpPr>
          <p:cNvPr id="15" name="Text 13"/>
          <p:cNvSpPr/>
          <p:nvPr/>
        </p:nvSpPr>
        <p:spPr>
          <a:xfrm>
            <a:off x="1892808" y="6583680"/>
            <a:ext cx="2060448" cy="873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91919"/>
                </a:solidFill>
                <a:latin typeface="Microsoft YaHei" pitchFamily="34" charset="0"/>
                <a:ea typeface="Microsoft YaHei"/>
                <a:cs typeface="Microsoft YaHei" pitchFamily="34" charset="-120"/>
              </a:rPr>
              <a:t>第 2 章 · 提审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企微智能机器人 SOP · 提审</dc:title>
  <dc:subject>PptxGenJS Presentation</dc:subject>
  <dc:creator>Rosetta</dc:creator>
  <cp:lastModifiedBy>Rosetta</cp:lastModifiedBy>
  <cp:revision>1</cp:revision>
  <dcterms:created xsi:type="dcterms:W3CDTF">2026-08-26T12:43:50Z</dcterms:created>
  <dcterms:modified xsi:type="dcterms:W3CDTF">2026-08-26T12:43:50Z</dcterms:modified>
</cp:coreProperties>
</file>